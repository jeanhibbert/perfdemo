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57" r:id="rId4"/>
    <p:sldId id="265" r:id="rId5"/>
    <p:sldId id="267" r:id="rId6"/>
    <p:sldId id="269" r:id="rId7"/>
    <p:sldId id="270" r:id="rId8"/>
    <p:sldId id="268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74822-7559-4916-B24A-593FC009153C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932-155E-4F26-A6AA-E3FE22FBC1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1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2EF3-DD0D-0F22-E487-908820242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0441D-462B-1A7D-D9BE-45D2D6FE4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395A0-F1E4-6738-62C1-63CDFE953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F1B33-851B-ABDB-E3C6-D5BD065B9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E2A49-F4ED-55E4-B0EE-993F5B3A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772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D78CE-9D01-ED25-F05C-AFDFFE5C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EECE2-04A2-B3C8-09C5-FDAF9D991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2CC23-AB47-FF63-99FA-04F0D15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3CBD4-D9F1-CE94-F7F4-CB1B8414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BF99E-6313-977A-C715-42EE423B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96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D4DD-0BFF-CC97-C211-11920A78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C1E-0696-809D-F639-37B8C617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48153-9DC4-5AEA-59F3-7D3B7EB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F31C-D9D0-6D76-1D99-8803DD1EF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B0B13-2365-5330-A1B8-1146A2224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8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D9B00-3A42-E3C3-CC47-39278C56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75B8-F7F6-8325-88EF-595C5FE8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CB95E-F346-4770-5FCC-E59C10B6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3320-141E-B2B2-F9F6-5074232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8B2C3-2317-E824-14F7-D52245F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C970-0A32-B60F-6AEF-B6063F2C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2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ED0C-0155-C0A3-E6D8-357592372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4E37D-69A3-8AA2-F094-2DBF6C66A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E72128-8F44-3E50-FADF-008CAC57E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2B613-9C47-60A1-3218-A258DA211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7FDDB-1134-98B7-FB5F-49D2AE2F3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4A46D-B3A3-4BBC-607B-186F20A6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DC860-5E92-7C5D-AED7-0F70597F9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8DCBA-7D54-9FD9-032D-42CE902FA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9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F9F0-6C6C-6168-7820-DDB1D57CC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3D34BE-C3DA-9CFD-6E93-BDE516F28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350F44-1A2B-4AE6-AF2A-7C7D835B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021E2-F599-24C4-9342-68740BD7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0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60273A-5E58-7F65-F139-1A006989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D4024-D8E5-8D2A-48F1-5623AC76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D31EE-6C91-87AE-1F96-3582887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76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832-329D-D083-8AA3-E9A301F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ECD4-0238-EB8A-3D89-7795482D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AB116-9B90-D5CC-A536-401EB9830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0E507-D204-61AA-BF91-7946BA1B7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9B36-60E1-E637-4D39-E2A02709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5B292-24A7-CDDC-B742-6C59EA2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59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B9A71-DCB2-7F44-9A42-6479498C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4802F5-3ACA-B522-F310-0A446FDDC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58EC-A9B0-A71E-7F9C-5DB75BAC7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F717E-AEAB-768D-4CF9-369F9BC9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99D7-5EAD-2369-1EDE-47ED5AAD0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94F83-ABA1-0FE8-6925-1D07D6FA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39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433B-BD79-812B-4F3A-B715BD5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1AD86-5F87-AD49-CBC0-3F47BB8D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58DB-A37C-A722-311F-91BFC9A8A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1B8A-1676-0BDD-21AB-BB9EA08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4A057-D145-E7F3-5AF7-B558B4D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88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D22EFA-BF8D-2C18-FA27-385179420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8037-4002-CEDE-379D-49FD8E2BF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659BC-8C25-9147-1F34-A57C813F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A059-CCA1-DF72-A44C-D3349049A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81F7A-0B0C-939E-DD20-5B50E5DA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23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760950-32B4-83F6-E272-DF380C8FE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87CF7-4E2D-991A-CED2-BF741CA68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B6264-5EA0-D4CC-FE1A-D8478E6FDD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7073B-89AF-4EE7-989E-7E254B1A4C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099DD-10AB-6BC7-7D2A-C81777827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D923-2D18-5AFE-8B22-FE24C4506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diagnostics/dotnet-counter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spaceship&#10;&#10;AI-generated content may be incorrect.">
            <a:extLst>
              <a:ext uri="{FF2B5EF4-FFF2-40B4-BE49-F238E27FC236}">
                <a16:creationId xmlns:a16="http://schemas.microsoft.com/office/drawing/2014/main" id="{7F191922-80E1-75ED-00F2-8A6D0392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99" y="1234770"/>
            <a:ext cx="6549558" cy="2475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DE0C3-4900-9FD6-4D1A-E82F38F4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569" y="1234770"/>
            <a:ext cx="3754721" cy="4388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3009D6-A369-C2A0-57C1-CCA66CA74DAB}"/>
              </a:ext>
            </a:extLst>
          </p:cNvPr>
          <p:cNvSpPr txBox="1"/>
          <p:nvPr/>
        </p:nvSpPr>
        <p:spPr>
          <a:xfrm>
            <a:off x="598882" y="4547665"/>
            <a:ext cx="62844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How to look under the hood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How to avoid unnecessary heap allocations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Learn a few tricks and gains some insights</a:t>
            </a:r>
          </a:p>
          <a:p>
            <a:pPr marL="342900" indent="-342900">
              <a:buFontTx/>
              <a:buChar char="-"/>
            </a:pP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1888D0-F02B-32FC-2E32-2DD2FCA7EDB8}"/>
              </a:ext>
            </a:extLst>
          </p:cNvPr>
          <p:cNvSpPr txBox="1"/>
          <p:nvPr/>
        </p:nvSpPr>
        <p:spPr>
          <a:xfrm>
            <a:off x="7880569" y="5704872"/>
            <a:ext cx="3085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“Just remember it’s not a bible…”</a:t>
            </a:r>
            <a:endParaRPr lang="en-GB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4BF3F5-0C0E-9655-70BA-5BEEEFB892B4}"/>
              </a:ext>
            </a:extLst>
          </p:cNvPr>
          <p:cNvSpPr txBox="1"/>
          <p:nvPr/>
        </p:nvSpPr>
        <p:spPr>
          <a:xfrm>
            <a:off x="787299" y="316786"/>
            <a:ext cx="95674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Tips and Tricks for C# code performance optimization</a:t>
            </a:r>
            <a:endParaRPr lang="en-GB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A26B3-85A3-C878-A968-6F2A5BE6ED22}"/>
              </a:ext>
            </a:extLst>
          </p:cNvPr>
          <p:cNvSpPr txBox="1"/>
          <p:nvPr/>
        </p:nvSpPr>
        <p:spPr>
          <a:xfrm>
            <a:off x="598883" y="3881247"/>
            <a:ext cx="26015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Goals: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206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4613B-9D5C-C5A3-6B4F-5FFEF12E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226142"/>
            <a:ext cx="10515600" cy="766916"/>
          </a:xfrm>
        </p:spPr>
        <p:txBody>
          <a:bodyPr/>
          <a:lstStyle/>
          <a:p>
            <a:r>
              <a:rPr lang="en-US" dirty="0"/>
              <a:t>Fast code is ugly code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145AF-98B4-493B-4365-8DA9D3EB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021" y="1199075"/>
            <a:ext cx="7401958" cy="9716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70FE66-AA54-D497-AFA9-C9039F7613B3}"/>
              </a:ext>
            </a:extLst>
          </p:cNvPr>
          <p:cNvSpPr txBox="1"/>
          <p:nvPr/>
        </p:nvSpPr>
        <p:spPr>
          <a:xfrm>
            <a:off x="2113935" y="1081548"/>
            <a:ext cx="1652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Maintainability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BB4FD-C926-F4B8-5A5A-5BBE131408A7}"/>
              </a:ext>
            </a:extLst>
          </p:cNvPr>
          <p:cNvSpPr txBox="1"/>
          <p:nvPr/>
        </p:nvSpPr>
        <p:spPr>
          <a:xfrm>
            <a:off x="8609521" y="1212577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  <a:endParaRPr lang="en-GB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F2375A-2AE1-FA58-A99F-CB998F6D0C1C}"/>
              </a:ext>
            </a:extLst>
          </p:cNvPr>
          <p:cNvCxnSpPr>
            <a:cxnSpLocks/>
          </p:cNvCxnSpPr>
          <p:nvPr/>
        </p:nvCxnSpPr>
        <p:spPr>
          <a:xfrm flipV="1">
            <a:off x="2752246" y="5667869"/>
            <a:ext cx="2514891" cy="71845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F22DEC-297C-792D-E718-BD570BA89FB1}"/>
              </a:ext>
            </a:extLst>
          </p:cNvPr>
          <p:cNvSpPr txBox="1"/>
          <p:nvPr/>
        </p:nvSpPr>
        <p:spPr>
          <a:xfrm>
            <a:off x="612850" y="5142909"/>
            <a:ext cx="4654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on Hot Path when performance required</a:t>
            </a:r>
            <a:endParaRPr lang="en-GB" dirty="0"/>
          </a:p>
        </p:txBody>
      </p:sp>
      <p:pic>
        <p:nvPicPr>
          <p:cNvPr id="13" name="Picture 12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9C80722F-98E1-8A52-332D-607AB01E5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073" y="2095247"/>
            <a:ext cx="6063124" cy="4443255"/>
          </a:xfrm>
          <a:prstGeom prst="rect">
            <a:avLst/>
          </a:prstGeom>
        </p:spPr>
      </p:pic>
      <p:pic>
        <p:nvPicPr>
          <p:cNvPr id="15" name="Picture 1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1A73CEA-19E6-29F6-262D-C8811796C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03" y="2244462"/>
            <a:ext cx="480127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772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A2C5-3EC0-F90E-1A8B-88D4B9DBD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890" y="1538466"/>
            <a:ext cx="10515600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General advice</a:t>
            </a:r>
          </a:p>
          <a:p>
            <a:pPr lvl="1"/>
            <a:r>
              <a:rPr lang="en-US" dirty="0"/>
              <a:t>Ensure all your code is testable</a:t>
            </a:r>
          </a:p>
          <a:p>
            <a:pPr lvl="2"/>
            <a:r>
              <a:rPr lang="en-US" dirty="0"/>
              <a:t>Dependency injection -&gt; tests</a:t>
            </a:r>
          </a:p>
          <a:p>
            <a:pPr lvl="1"/>
            <a:r>
              <a:rPr lang="en-US" dirty="0"/>
              <a:t>Benchmark before optimizations</a:t>
            </a:r>
          </a:p>
          <a:p>
            <a:pPr lvl="2"/>
            <a:r>
              <a:rPr lang="en-US" dirty="0"/>
              <a:t>Measure before &amp; after</a:t>
            </a:r>
          </a:p>
          <a:p>
            <a:pPr lvl="1"/>
            <a:r>
              <a:rPr lang="en-US" dirty="0"/>
              <a:t>Use the Result Pattern</a:t>
            </a:r>
          </a:p>
          <a:p>
            <a:pPr lvl="2"/>
            <a:r>
              <a:rPr lang="en-US" dirty="0"/>
              <a:t>Only throw exceptions in extreme situations!</a:t>
            </a:r>
          </a:p>
          <a:p>
            <a:pPr lvl="1"/>
            <a:r>
              <a:rPr lang="en-US" dirty="0"/>
              <a:t>Don’t parallelize unnecessarily</a:t>
            </a:r>
          </a:p>
          <a:p>
            <a:pPr lvl="1"/>
            <a:r>
              <a:rPr lang="en-GB" dirty="0"/>
              <a:t>Read the documentation</a:t>
            </a:r>
          </a:p>
          <a:p>
            <a:pPr lvl="2"/>
            <a:r>
              <a:rPr lang="en-GB" dirty="0"/>
              <a:t>Stephen Toub’s blog posts</a:t>
            </a:r>
          </a:p>
          <a:p>
            <a:pPr lvl="3"/>
            <a:r>
              <a:rPr lang="en-GB" dirty="0"/>
              <a:t>Tiered compilation</a:t>
            </a:r>
          </a:p>
          <a:p>
            <a:pPr lvl="3"/>
            <a:r>
              <a:rPr lang="en-GB" dirty="0"/>
              <a:t>Frozen dictionary</a:t>
            </a:r>
          </a:p>
          <a:p>
            <a:pPr lvl="3"/>
            <a:r>
              <a:rPr lang="en-GB" dirty="0"/>
              <a:t>…</a:t>
            </a:r>
          </a:p>
          <a:p>
            <a:pPr lvl="1"/>
            <a:r>
              <a:rPr lang="en-GB" dirty="0"/>
              <a:t>Best optimisations are DB/IO/Architecture</a:t>
            </a:r>
          </a:p>
          <a:p>
            <a:pPr lvl="2"/>
            <a:r>
              <a:rPr lang="en-GB" dirty="0"/>
              <a:t>Micro-optimisations are the exception</a:t>
            </a:r>
          </a:p>
          <a:p>
            <a:pPr lvl="2"/>
            <a:r>
              <a:rPr lang="en-GB" dirty="0"/>
              <a:t>Be careful micro-optimisation is addictive</a:t>
            </a:r>
          </a:p>
          <a:p>
            <a:pPr lvl="1"/>
            <a:r>
              <a:rPr lang="en-GB" dirty="0"/>
              <a:t>Understand your tools</a:t>
            </a:r>
          </a:p>
          <a:p>
            <a:pPr lvl="2"/>
            <a:r>
              <a:rPr lang="en-GB" dirty="0" err="1"/>
              <a:t>ILSpy</a:t>
            </a:r>
            <a:endParaRPr lang="en-GB" dirty="0"/>
          </a:p>
          <a:p>
            <a:pPr lvl="2"/>
            <a:r>
              <a:rPr lang="en-GB" dirty="0"/>
              <a:t>SharpLab.io</a:t>
            </a:r>
          </a:p>
          <a:p>
            <a:pPr lvl="2"/>
            <a:r>
              <a:rPr lang="en-GB" dirty="0"/>
              <a:t>VS Performance Profiler</a:t>
            </a:r>
          </a:p>
          <a:p>
            <a:pPr lvl="2"/>
            <a:r>
              <a:rPr lang="en-GB" dirty="0"/>
              <a:t>Dotnet-counters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98D3E-A876-8E63-001E-33CD078C8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39" y="1399237"/>
            <a:ext cx="5630061" cy="46297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FBDF57-2D49-479C-0B76-B5E1A06ABF1F}"/>
              </a:ext>
            </a:extLst>
          </p:cNvPr>
          <p:cNvSpPr txBox="1"/>
          <p:nvPr/>
        </p:nvSpPr>
        <p:spPr>
          <a:xfrm>
            <a:off x="718457" y="816429"/>
            <a:ext cx="4804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PRIMARY GOAL: REDUCE HEAP ALLOCATIONS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4752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F75E27-BEEB-5DB5-DD19-852845E4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85" y="1329534"/>
            <a:ext cx="10234691" cy="45487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33614DB-D050-F33F-DF89-C1B083DC16A6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IL Spy (Visual Studio Extension)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666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EC1C68A-2892-A245-B58B-9BECA4271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58" y="1494399"/>
            <a:ext cx="11560542" cy="48162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7BFBF5F-0C94-943F-DE37-78953EE7A9CE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SharpLab.io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0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C951F-E285-F85A-93AC-AAD7AF400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87" y="337769"/>
            <a:ext cx="10515600" cy="815617"/>
          </a:xfrm>
        </p:spPr>
        <p:txBody>
          <a:bodyPr/>
          <a:lstStyle/>
          <a:p>
            <a:r>
              <a:rPr lang="en-US" dirty="0"/>
              <a:t>dotnet-counters</a:t>
            </a:r>
            <a:endParaRPr lang="en-GB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3DCA029-F29A-819A-34A7-9E0FBB4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60" y="1690688"/>
            <a:ext cx="4248003" cy="44217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1C832C-9136-6192-C99A-63A4D1B7E38E}"/>
              </a:ext>
            </a:extLst>
          </p:cNvPr>
          <p:cNvSpPr txBox="1"/>
          <p:nvPr/>
        </p:nvSpPr>
        <p:spPr>
          <a:xfrm>
            <a:off x="346587" y="1052705"/>
            <a:ext cx="6690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3"/>
              </a:rPr>
              <a:t>dotnet-counters diagnostic tool - .NET CLI - .NET | Microsoft Learn</a:t>
            </a:r>
            <a:endParaRPr lang="en-GB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15AAEF-6A31-3769-EFAB-6C59C839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073" y="1582992"/>
            <a:ext cx="3445853" cy="2176709"/>
          </a:xfrm>
          <a:prstGeom prst="rect">
            <a:avLst/>
          </a:prstGeom>
        </p:spPr>
      </p:pic>
      <p:pic>
        <p:nvPicPr>
          <p:cNvPr id="12" name="Picture 11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D2D896EA-94C5-711C-631D-692C2CD030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6495" y="3901555"/>
            <a:ext cx="2403316" cy="2176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2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DAF6-F905-1C33-AB3C-8BFA532B0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56" y="409800"/>
            <a:ext cx="9426677" cy="342798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 Studio Profiler</a:t>
            </a:r>
            <a:endParaRPr lang="en-GB" dirty="0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AAE6CA-EBD3-DAA1-9007-65DD2CE01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6" y="3010003"/>
            <a:ext cx="5425987" cy="2920181"/>
          </a:xfrm>
          <a:prstGeom prst="rect">
            <a:avLst/>
          </a:prstGeom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92F3E-F871-0F5C-A586-DBE8DB20E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010002"/>
            <a:ext cx="5454356" cy="2920181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B6213B-30BE-C24C-8674-BFE14B912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70679"/>
            <a:ext cx="3873910" cy="182124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B4F8A4-C3D3-F2C5-A9CD-BE99463F6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956" y="970679"/>
            <a:ext cx="3052036" cy="182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79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3292-3446-0EDB-3E93-0F48C1C90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55" y="276531"/>
            <a:ext cx="10515600" cy="814746"/>
          </a:xfrm>
        </p:spPr>
        <p:txBody>
          <a:bodyPr/>
          <a:lstStyle/>
          <a:p>
            <a:r>
              <a:rPr lang="en-US" dirty="0"/>
              <a:t>Demo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32565-2BBA-7C9A-5B9D-215DDC5F5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55" y="141538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sz="1600" dirty="0"/>
              <a:t>Result Pattern</a:t>
            </a:r>
          </a:p>
          <a:p>
            <a:r>
              <a:rPr lang="en-US" sz="1600" dirty="0"/>
              <a:t>Fast way to add/update dictionaries</a:t>
            </a:r>
          </a:p>
          <a:p>
            <a:r>
              <a:rPr lang="en-US" sz="1600" dirty="0"/>
              <a:t>Fast iteration benchmarks</a:t>
            </a:r>
          </a:p>
          <a:p>
            <a:r>
              <a:rPr lang="en-GB" sz="1600" dirty="0" err="1"/>
              <a:t>Zlinq</a:t>
            </a:r>
            <a:endParaRPr lang="en-GB" sz="1600" dirty="0"/>
          </a:p>
          <a:p>
            <a:r>
              <a:rPr lang="en-GB" sz="1600" dirty="0"/>
              <a:t>Frozen Dictionary</a:t>
            </a:r>
          </a:p>
          <a:p>
            <a:r>
              <a:rPr lang="en-GB" sz="1600" dirty="0"/>
              <a:t>Ref struct</a:t>
            </a:r>
          </a:p>
          <a:p>
            <a:r>
              <a:rPr lang="en-US" sz="1600" dirty="0"/>
              <a:t>Casting</a:t>
            </a:r>
          </a:p>
          <a:p>
            <a:r>
              <a:rPr lang="en-US" sz="1600" dirty="0"/>
              <a:t>How Generics affect performance</a:t>
            </a:r>
          </a:p>
          <a:p>
            <a:pPr lvl="1"/>
            <a:r>
              <a:rPr lang="en-US" sz="1600" dirty="0"/>
              <a:t>Boxing</a:t>
            </a:r>
          </a:p>
          <a:p>
            <a:pPr lvl="1"/>
            <a:r>
              <a:rPr lang="en-US" sz="1600" dirty="0" err="1"/>
              <a:t>GenericList</a:t>
            </a:r>
            <a:endParaRPr lang="en-US" sz="1600" dirty="0"/>
          </a:p>
          <a:p>
            <a:pPr lvl="1"/>
            <a:r>
              <a:rPr lang="en-US" sz="1600" dirty="0"/>
              <a:t>Service</a:t>
            </a:r>
          </a:p>
          <a:p>
            <a:pPr lvl="1"/>
            <a:r>
              <a:rPr lang="en-US" sz="1600" dirty="0" err="1"/>
              <a:t>CallpathElimination</a:t>
            </a:r>
            <a:endParaRPr lang="en-US" sz="1600" dirty="0"/>
          </a:p>
          <a:p>
            <a:pPr lvl="2"/>
            <a:r>
              <a:rPr lang="en-US" sz="1600" dirty="0" err="1"/>
              <a:t>CallpathFactory</a:t>
            </a:r>
            <a:endParaRPr lang="en-US" sz="1600" dirty="0"/>
          </a:p>
          <a:p>
            <a:r>
              <a:rPr lang="en-GB" sz="1600" dirty="0"/>
              <a:t>Span</a:t>
            </a:r>
          </a:p>
          <a:p>
            <a:r>
              <a:rPr lang="en-GB" sz="1600" dirty="0"/>
              <a:t>CSV Parser</a:t>
            </a:r>
          </a:p>
          <a:p>
            <a:r>
              <a:rPr lang="en-GB" sz="1600" dirty="0"/>
              <a:t>In and out keywords with ref struct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964004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4EC81-AB7E-515F-98DB-93AD57E02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8214"/>
            <a:ext cx="10515600" cy="5768749"/>
          </a:xfrm>
        </p:spPr>
        <p:txBody>
          <a:bodyPr/>
          <a:lstStyle/>
          <a:p>
            <a:r>
              <a:rPr lang="en-US" dirty="0"/>
              <a:t>Resources</a:t>
            </a:r>
          </a:p>
          <a:p>
            <a:endParaRPr lang="en-US" dirty="0"/>
          </a:p>
          <a:p>
            <a:pPr lvl="1"/>
            <a:r>
              <a:rPr lang="en-GB" b="1" dirty="0"/>
              <a:t>[TODO]</a:t>
            </a:r>
          </a:p>
          <a:p>
            <a:pPr lvl="1"/>
            <a:endParaRPr lang="en-GB" b="1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5615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Office PowerPoint</Application>
  <PresentationFormat>Widescreen</PresentationFormat>
  <Paragraphs>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Fast code is ugly code</vt:lpstr>
      <vt:lpstr>PowerPoint Presentation</vt:lpstr>
      <vt:lpstr>PowerPoint Presentation</vt:lpstr>
      <vt:lpstr>PowerPoint Presentation</vt:lpstr>
      <vt:lpstr>dotnet-counters</vt:lpstr>
      <vt:lpstr>Visual Studio Profiler</vt:lpstr>
      <vt:lpstr>Demo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Hibbert</dc:creator>
  <cp:lastModifiedBy>Jean Hibbert</cp:lastModifiedBy>
  <cp:revision>13</cp:revision>
  <dcterms:created xsi:type="dcterms:W3CDTF">2025-11-10T19:37:52Z</dcterms:created>
  <dcterms:modified xsi:type="dcterms:W3CDTF">2025-11-24T20:54:30Z</dcterms:modified>
</cp:coreProperties>
</file>