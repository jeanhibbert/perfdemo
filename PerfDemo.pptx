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9" r:id="rId2"/>
    <p:sldId id="258" r:id="rId3"/>
    <p:sldId id="257" r:id="rId4"/>
    <p:sldId id="265" r:id="rId5"/>
    <p:sldId id="267" r:id="rId6"/>
    <p:sldId id="269" r:id="rId7"/>
    <p:sldId id="270" r:id="rId8"/>
    <p:sldId id="268" r:id="rId9"/>
    <p:sldId id="264" r:id="rId10"/>
    <p:sldId id="266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1326" y="2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2D74822-7559-4916-B24A-593FC009153C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FB3932-155E-4F26-A6AA-E3FE22FBC1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8145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52EF3-DD0D-0F22-E487-908820242C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90441D-462B-1A7D-D9BE-45D2D6FE47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8395A0-F1E4-6738-62C1-63CDFE953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7073B-89AF-4EE7-989E-7E254B1A4C64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EF1B33-851B-ABDB-E3C6-D5BD065B9B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4E2A49-F4ED-55E4-B0EE-993F5B3AA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59145-2AB0-44AF-ACEC-A66CD1D7B6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07720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D78CE-9D01-ED25-F05C-AFDFFE5CF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7EECE2-04A2-B3C8-09C5-FDAF9D991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12CC23-AB47-FF63-99FA-04F0D15826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7073B-89AF-4EE7-989E-7E254B1A4C64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03CBD4-D9F1-CE94-F7F4-CB1B841446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BF99E-6313-977A-C715-42EE423B0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59145-2AB0-44AF-ACEC-A66CD1D7B6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39625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BD4DD-0BFF-CC97-C211-11920A788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16CC1E-0696-809D-F639-37B8C61714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B48153-9DC4-5AEA-59F3-7D3B7EB9A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7073B-89AF-4EE7-989E-7E254B1A4C64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25F31C-D9D0-6D76-1D99-8803DD1EF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BB0B13-2365-5330-A1B8-1146A2224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59145-2AB0-44AF-ACEC-A66CD1D7B6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7828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0D9B00-3A42-E3C3-CC47-39278C56C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1875B8-F7F6-8325-88EF-595C5FE8D5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FCB95E-F346-4770-5FCC-E59C10B6A6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093320-141E-B2B2-F9F6-5074232ED4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7073B-89AF-4EE7-989E-7E254B1A4C64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D8B2C3-2317-E824-14F7-D52245F482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02C970-0A32-B60F-6AEF-B6063F2C2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59145-2AB0-44AF-ACEC-A66CD1D7B6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4727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06ED0C-0155-C0A3-E6D8-3575923721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F4E37D-69A3-8AA2-F094-2DBF6C66A8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E72128-8F44-3E50-FADF-008CAC57E9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72B613-9C47-60A1-3218-A258DA2111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CF7FDDB-1134-98B7-FB5F-49D2AE2F33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B94A46D-B3A3-4BBC-607B-186F20A6D4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7073B-89AF-4EE7-989E-7E254B1A4C64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D4DC860-5E92-7C5D-AED7-0F70597F95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8B8DCBA-7D54-9FD9-032D-42CE902FA7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59145-2AB0-44AF-ACEC-A66CD1D7B6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7938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2F9F0-6C6C-6168-7820-DDB1D57CC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73D34BE-C3DA-9CFD-6E93-BDE516F28F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7073B-89AF-4EE7-989E-7E254B1A4C64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350F44-1A2B-4AE6-AF2A-7C7D835BA0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A021E2-F599-24C4-9342-68740BD77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59145-2AB0-44AF-ACEC-A66CD1D7B6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40037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360273A-5E58-7F65-F139-1A006989DB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7073B-89AF-4EE7-989E-7E254B1A4C64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ABD4024-D8E5-8D2A-48F1-5623AC7612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6D31EE-6C91-87AE-1F96-3582887ED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59145-2AB0-44AF-ACEC-A66CD1D7B6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47676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3A832-329D-D083-8AA3-E9A301F36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99ECD4-0238-EB8A-3D89-7795482D85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BAB116-9B90-D5CC-A536-401EB98301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A0E507-D204-61AA-BF91-7946BA1B7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7073B-89AF-4EE7-989E-7E254B1A4C64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599B36-60E1-E637-4D39-E2A027092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85B292-24A7-CDDC-B742-6C59EA2F6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59145-2AB0-44AF-ACEC-A66CD1D7B6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05936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B9A71-DCB2-7F44-9A42-6479498C52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B4802F5-3ACA-B522-F310-0A446FDDCD6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C358EC-A9B0-A71E-7F9C-5DB75BAC76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1F717E-AEAB-768D-4CF9-369F9BC975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7073B-89AF-4EE7-989E-7E254B1A4C64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8699D7-5EAD-2369-1EDE-47ED5AAD0C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494F83-ABA1-0FE8-6925-1D07D6FA4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59145-2AB0-44AF-ACEC-A66CD1D7B6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4396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0433B-BD79-812B-4F3A-B715BD5B3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0C1AD86-5F87-AD49-CBC0-3F47BB8D7C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8558DB-A37C-A722-311F-91BFC9A8A1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7073B-89AF-4EE7-989E-7E254B1A4C64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151B8A-1676-0BDD-21AB-BB9EA0890E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F4A057-D145-E7F3-5AF7-B558B4D70C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59145-2AB0-44AF-ACEC-A66CD1D7B6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2884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4D22EFA-BF8D-2C18-FA27-3851794203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B18037-4002-CEDE-379D-49FD8E2BF8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0659BC-8C25-9147-1F34-A57C813F50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7073B-89AF-4EE7-989E-7E254B1A4C64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EDA059-CCA1-DF72-A44C-D3349049A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D81F7A-0B0C-939E-DD20-5B50E5DA9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59145-2AB0-44AF-ACEC-A66CD1D7B6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2383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760950-32B4-83F6-E272-DF380C8FE2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587CF7-4E2D-991A-CED2-BF741CA684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7B6264-5EA0-D4CC-FE1A-D8478E6FDD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E7073B-89AF-4EE7-989E-7E254B1A4C64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1099DD-10AB-6BC7-7D2A-C817778274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CCD923-2D18-5AFE-8B22-FE24C45067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759145-2AB0-44AF-ACEC-A66CD1D7B6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8369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-up of a spaceship&#10;&#10;AI-generated content may be incorrect.">
            <a:extLst>
              <a:ext uri="{FF2B5EF4-FFF2-40B4-BE49-F238E27FC236}">
                <a16:creationId xmlns:a16="http://schemas.microsoft.com/office/drawing/2014/main" id="{7F191922-80E1-75ED-00F2-8A6D039282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570" y="1734755"/>
            <a:ext cx="6549558" cy="247573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58DE0C3-4900-9FD6-4D1A-E82F38F429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1840" y="1734755"/>
            <a:ext cx="3754721" cy="438845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23009D6-A369-C2A0-57C1-CCA66CA74DAB}"/>
              </a:ext>
            </a:extLst>
          </p:cNvPr>
          <p:cNvSpPr txBox="1"/>
          <p:nvPr/>
        </p:nvSpPr>
        <p:spPr>
          <a:xfrm>
            <a:off x="750264" y="4620985"/>
            <a:ext cx="68461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The importance of knowing what’s under the hood.</a:t>
            </a:r>
            <a:endParaRPr lang="en-GB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A1888D0-F02B-32FC-2E32-2DD2FCA7EDB8}"/>
              </a:ext>
            </a:extLst>
          </p:cNvPr>
          <p:cNvSpPr txBox="1"/>
          <p:nvPr/>
        </p:nvSpPr>
        <p:spPr>
          <a:xfrm>
            <a:off x="7991840" y="6204857"/>
            <a:ext cx="30857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“Just remember it’s not a bible…”</a:t>
            </a:r>
            <a:endParaRPr lang="en-GB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F4BF3F5-0C0E-9655-70BA-5BEEEFB892B4}"/>
              </a:ext>
            </a:extLst>
          </p:cNvPr>
          <p:cNvSpPr txBox="1"/>
          <p:nvPr/>
        </p:nvSpPr>
        <p:spPr>
          <a:xfrm>
            <a:off x="638993" y="653143"/>
            <a:ext cx="956742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Tips and Tricks for C# code performance optimization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206783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E4613B-9D5C-C5A3-6B4F-5FFEF12E99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58" y="226142"/>
            <a:ext cx="10515600" cy="766916"/>
          </a:xfrm>
        </p:spPr>
        <p:txBody>
          <a:bodyPr/>
          <a:lstStyle/>
          <a:p>
            <a:r>
              <a:rPr lang="en-US" dirty="0"/>
              <a:t>Fast code is ugly code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27145AF-98B4-493B-4365-8DA9D3EBB0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021" y="1199075"/>
            <a:ext cx="7401958" cy="97168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B70FE66-AA54-D497-AFA9-C9039F7613B3}"/>
              </a:ext>
            </a:extLst>
          </p:cNvPr>
          <p:cNvSpPr txBox="1"/>
          <p:nvPr/>
        </p:nvSpPr>
        <p:spPr>
          <a:xfrm>
            <a:off x="2113935" y="1081548"/>
            <a:ext cx="16521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Maintainability</a:t>
            </a:r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3BB4FD-C926-F4B8-5A5A-5BBE131408A7}"/>
              </a:ext>
            </a:extLst>
          </p:cNvPr>
          <p:cNvSpPr txBox="1"/>
          <p:nvPr/>
        </p:nvSpPr>
        <p:spPr>
          <a:xfrm>
            <a:off x="8174357" y="1081548"/>
            <a:ext cx="14685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Performance</a:t>
            </a:r>
            <a:endParaRPr lang="en-GB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15E9BBA-BB3F-1F19-F109-1815F422AB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2035" y="2170761"/>
            <a:ext cx="3662385" cy="419866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DCDA9CE-C5AF-B5A2-8FD5-8704425820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4255" y="2170761"/>
            <a:ext cx="5338675" cy="1700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7729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2AA2C5-3EC0-F90E-1A8B-88D4B9DBD1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890" y="1538466"/>
            <a:ext cx="10515600" cy="4351338"/>
          </a:xfrm>
        </p:spPr>
        <p:txBody>
          <a:bodyPr>
            <a:normAutofit fontScale="55000" lnSpcReduction="20000"/>
          </a:bodyPr>
          <a:lstStyle/>
          <a:p>
            <a:r>
              <a:rPr lang="en-US" dirty="0"/>
              <a:t>General advice</a:t>
            </a:r>
          </a:p>
          <a:p>
            <a:pPr lvl="1"/>
            <a:r>
              <a:rPr lang="en-US" dirty="0"/>
              <a:t>Ensure all your code is testable</a:t>
            </a:r>
          </a:p>
          <a:p>
            <a:pPr lvl="2"/>
            <a:r>
              <a:rPr lang="en-US" dirty="0"/>
              <a:t>Dependency injection -&gt; tests</a:t>
            </a:r>
          </a:p>
          <a:p>
            <a:pPr lvl="1"/>
            <a:r>
              <a:rPr lang="en-US" dirty="0"/>
              <a:t>Benchmark before optimizations</a:t>
            </a:r>
          </a:p>
          <a:p>
            <a:pPr lvl="2"/>
            <a:r>
              <a:rPr lang="en-US" dirty="0"/>
              <a:t>Measure before &amp; after</a:t>
            </a:r>
          </a:p>
          <a:p>
            <a:pPr lvl="1"/>
            <a:r>
              <a:rPr lang="en-US" dirty="0"/>
              <a:t>Use the Result Pattern</a:t>
            </a:r>
          </a:p>
          <a:p>
            <a:pPr lvl="2"/>
            <a:r>
              <a:rPr lang="en-US" dirty="0"/>
              <a:t>Only throw exceptions in extreme situations!</a:t>
            </a:r>
          </a:p>
          <a:p>
            <a:pPr lvl="1"/>
            <a:r>
              <a:rPr lang="en-US" dirty="0"/>
              <a:t>Don’t parallelize unnecessarily</a:t>
            </a:r>
          </a:p>
          <a:p>
            <a:pPr lvl="1"/>
            <a:r>
              <a:rPr lang="en-GB" dirty="0"/>
              <a:t>Read the documentation</a:t>
            </a:r>
          </a:p>
          <a:p>
            <a:pPr lvl="2"/>
            <a:r>
              <a:rPr lang="en-GB" dirty="0"/>
              <a:t>Stephen Toub’s blog posts</a:t>
            </a:r>
          </a:p>
          <a:p>
            <a:pPr lvl="3"/>
            <a:r>
              <a:rPr lang="en-GB" dirty="0"/>
              <a:t>Tiered compilation</a:t>
            </a:r>
          </a:p>
          <a:p>
            <a:pPr lvl="3"/>
            <a:r>
              <a:rPr lang="en-GB" dirty="0"/>
              <a:t>Frozen dictionary</a:t>
            </a:r>
          </a:p>
          <a:p>
            <a:pPr lvl="3"/>
            <a:r>
              <a:rPr lang="en-GB" dirty="0"/>
              <a:t>…</a:t>
            </a:r>
          </a:p>
          <a:p>
            <a:pPr lvl="1"/>
            <a:r>
              <a:rPr lang="en-GB" dirty="0"/>
              <a:t>Best optimisations are DB/IO/Architecture</a:t>
            </a:r>
          </a:p>
          <a:p>
            <a:pPr lvl="2"/>
            <a:r>
              <a:rPr lang="en-GB" dirty="0"/>
              <a:t>Micro-optimisations are the exception</a:t>
            </a:r>
          </a:p>
          <a:p>
            <a:pPr lvl="2"/>
            <a:r>
              <a:rPr lang="en-GB" dirty="0"/>
              <a:t>Be careful micro-optimisation is addictive</a:t>
            </a:r>
          </a:p>
          <a:p>
            <a:pPr lvl="1"/>
            <a:r>
              <a:rPr lang="en-GB" dirty="0"/>
              <a:t>Understand your tools</a:t>
            </a:r>
          </a:p>
          <a:p>
            <a:pPr lvl="2"/>
            <a:r>
              <a:rPr lang="en-GB" dirty="0" err="1"/>
              <a:t>ILSpy</a:t>
            </a:r>
            <a:endParaRPr lang="en-GB" dirty="0"/>
          </a:p>
          <a:p>
            <a:pPr lvl="2"/>
            <a:r>
              <a:rPr lang="en-GB" dirty="0"/>
              <a:t>SharpLab.io</a:t>
            </a:r>
          </a:p>
          <a:p>
            <a:pPr lvl="2"/>
            <a:r>
              <a:rPr lang="en-GB" dirty="0"/>
              <a:t>VS Performance Profiler</a:t>
            </a:r>
          </a:p>
          <a:p>
            <a:pPr lvl="2"/>
            <a:r>
              <a:rPr lang="en-GB" dirty="0"/>
              <a:t>Dotnet-counters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2598D3E-A876-8E63-001E-33CD078C89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1939" y="1399237"/>
            <a:ext cx="5630061" cy="462979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9FBDF57-2D49-479C-0B76-B5E1A06ABF1F}"/>
              </a:ext>
            </a:extLst>
          </p:cNvPr>
          <p:cNvSpPr txBox="1"/>
          <p:nvPr/>
        </p:nvSpPr>
        <p:spPr>
          <a:xfrm>
            <a:off x="718457" y="816429"/>
            <a:ext cx="4804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PRIMARY GOAL: REDUCE HEAP ALLOCATIONS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647523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9F75E27-BEEB-5DB5-DD19-852845E4AB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885" y="1329534"/>
            <a:ext cx="10234691" cy="4548752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E33614DB-D050-F33F-DF89-C1B083DC16A6}"/>
              </a:ext>
            </a:extLst>
          </p:cNvPr>
          <p:cNvSpPr txBox="1">
            <a:spLocks/>
          </p:cNvSpPr>
          <p:nvPr/>
        </p:nvSpPr>
        <p:spPr>
          <a:xfrm>
            <a:off x="493886" y="281329"/>
            <a:ext cx="7522029" cy="6399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IL Spy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166600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2EC1C68A-2892-A245-B58B-9BECA42715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358" y="1494399"/>
            <a:ext cx="11560542" cy="4816257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57BFBF5F-0C94-943F-DE37-78953EE7A9CE}"/>
              </a:ext>
            </a:extLst>
          </p:cNvPr>
          <p:cNvSpPr txBox="1">
            <a:spLocks/>
          </p:cNvSpPr>
          <p:nvPr/>
        </p:nvSpPr>
        <p:spPr>
          <a:xfrm>
            <a:off x="493886" y="281329"/>
            <a:ext cx="7522029" cy="6399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SharpLab.io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21012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CC951F-E285-F85A-93AC-AAD7AF400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CSV from dotnet-counters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4718DD-4046-6A79-B260-B6469BCFC7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Screenshot of ChatGPT output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82621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2CDAF6-F905-1C33-AB3C-8BFA532B0B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 Studio Profiler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2D9547-1ACA-FD7D-0081-82B540444D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Screenshot of garbage collector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827924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8E3292-3446-0EDB-3E93-0F48C1C901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tools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640046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E978F5-9C4C-8911-0C46-1F5F70F8E2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985" y="279513"/>
            <a:ext cx="10118271" cy="973818"/>
          </a:xfrm>
        </p:spPr>
        <p:txBody>
          <a:bodyPr/>
          <a:lstStyle/>
          <a:p>
            <a:r>
              <a:rPr lang="en-US" dirty="0"/>
              <a:t>No more slides please!!!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8B75F-9B25-CB1B-DEB7-7BA9E1540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985" y="1253331"/>
            <a:ext cx="105156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sz="1600" dirty="0"/>
              <a:t>Fast way to add/update dictionaries</a:t>
            </a:r>
          </a:p>
          <a:p>
            <a:r>
              <a:rPr lang="en-US" sz="1600" dirty="0"/>
              <a:t>Fast iteration benchmarks</a:t>
            </a:r>
          </a:p>
          <a:p>
            <a:r>
              <a:rPr lang="en-GB" sz="1600" dirty="0" err="1"/>
              <a:t>Zlinq</a:t>
            </a:r>
            <a:endParaRPr lang="en-GB" sz="1600" dirty="0"/>
          </a:p>
          <a:p>
            <a:r>
              <a:rPr lang="en-GB" sz="1600" dirty="0"/>
              <a:t>Frozen Dictionary benchmarks</a:t>
            </a:r>
          </a:p>
          <a:p>
            <a:r>
              <a:rPr lang="en-GB" sz="1600" dirty="0"/>
              <a:t>Ref struct</a:t>
            </a:r>
          </a:p>
          <a:p>
            <a:r>
              <a:rPr lang="en-US" sz="1600" dirty="0"/>
              <a:t>Casting benchmarks</a:t>
            </a:r>
          </a:p>
          <a:p>
            <a:r>
              <a:rPr lang="en-US" sz="1600" dirty="0"/>
              <a:t>How Generics affect performance</a:t>
            </a:r>
          </a:p>
          <a:p>
            <a:pPr lvl="1"/>
            <a:r>
              <a:rPr lang="en-US" sz="1600" dirty="0"/>
              <a:t>Boxing</a:t>
            </a:r>
          </a:p>
          <a:p>
            <a:pPr lvl="1"/>
            <a:r>
              <a:rPr lang="en-US" sz="1600" dirty="0" err="1"/>
              <a:t>GenericList</a:t>
            </a:r>
            <a:endParaRPr lang="en-US" sz="1600" dirty="0"/>
          </a:p>
          <a:p>
            <a:pPr lvl="1"/>
            <a:r>
              <a:rPr lang="en-US" sz="1600" dirty="0"/>
              <a:t>Service</a:t>
            </a:r>
          </a:p>
          <a:p>
            <a:pPr lvl="1"/>
            <a:r>
              <a:rPr lang="en-US" sz="1600" dirty="0" err="1"/>
              <a:t>CallpathElimination</a:t>
            </a:r>
            <a:endParaRPr lang="en-US" sz="1600" dirty="0"/>
          </a:p>
          <a:p>
            <a:pPr lvl="2"/>
            <a:r>
              <a:rPr lang="en-US" sz="1600" dirty="0" err="1"/>
              <a:t>CallpathFactory</a:t>
            </a:r>
            <a:endParaRPr lang="en-US" sz="1600" dirty="0"/>
          </a:p>
          <a:p>
            <a:r>
              <a:rPr lang="en-GB" sz="1600" dirty="0"/>
              <a:t>Aggressive optimisation attribute</a:t>
            </a:r>
          </a:p>
          <a:p>
            <a:r>
              <a:rPr lang="en-GB" sz="1600" dirty="0"/>
              <a:t>In and out keywords with ref struct</a:t>
            </a:r>
          </a:p>
          <a:p>
            <a:r>
              <a:rPr lang="en-GB" sz="1600" dirty="0" err="1"/>
              <a:t>ArrayPool</a:t>
            </a:r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16961603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24EC81-AB7E-515F-98DB-93AD57E028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08214"/>
            <a:ext cx="10515600" cy="5768749"/>
          </a:xfrm>
        </p:spPr>
        <p:txBody>
          <a:bodyPr/>
          <a:lstStyle/>
          <a:p>
            <a:r>
              <a:rPr lang="en-US" dirty="0"/>
              <a:t>Resources</a:t>
            </a:r>
          </a:p>
          <a:p>
            <a:endParaRPr lang="en-US" dirty="0"/>
          </a:p>
          <a:p>
            <a:pPr lvl="1"/>
            <a:r>
              <a:rPr lang="en-GB" b="1" dirty="0"/>
              <a:t>Stephen Toub’s blog</a:t>
            </a:r>
          </a:p>
          <a:p>
            <a:pPr lvl="1"/>
            <a:endParaRPr lang="en-GB" b="1" dirty="0"/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256154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180</Words>
  <Application>Microsoft Office PowerPoint</Application>
  <PresentationFormat>Widescreen</PresentationFormat>
  <Paragraphs>54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PowerPoint Presentation</vt:lpstr>
      <vt:lpstr>Fast code is ugly code</vt:lpstr>
      <vt:lpstr>PowerPoint Presentation</vt:lpstr>
      <vt:lpstr>PowerPoint Presentation</vt:lpstr>
      <vt:lpstr>PowerPoint Presentation</vt:lpstr>
      <vt:lpstr>CSV from dotnet-counters</vt:lpstr>
      <vt:lpstr>Visual Studio Profiler</vt:lpstr>
      <vt:lpstr>Demo tools</vt:lpstr>
      <vt:lpstr>No more slides please!!!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Jean Hibbert</dc:creator>
  <cp:lastModifiedBy>Jean Hibbert</cp:lastModifiedBy>
  <cp:revision>8</cp:revision>
  <dcterms:created xsi:type="dcterms:W3CDTF">2025-11-10T19:37:52Z</dcterms:created>
  <dcterms:modified xsi:type="dcterms:W3CDTF">2025-11-20T21:39:09Z</dcterms:modified>
</cp:coreProperties>
</file>