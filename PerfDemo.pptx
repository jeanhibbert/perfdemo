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71" r:id="rId3"/>
    <p:sldId id="258" r:id="rId4"/>
    <p:sldId id="257" r:id="rId5"/>
    <p:sldId id="265" r:id="rId6"/>
    <p:sldId id="267" r:id="rId7"/>
    <p:sldId id="269" r:id="rId8"/>
    <p:sldId id="270" r:id="rId9"/>
    <p:sldId id="268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4822-7559-4916-B24A-593FC009153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B3932-155E-4F26-A6AA-E3FE22FBC1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81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2EF3-DD0D-0F22-E487-908820242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0441D-462B-1A7D-D9BE-45D2D6FE4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395A0-F1E4-6738-62C1-63CDFE95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F1B33-851B-ABDB-E3C6-D5BD065B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E2A49-F4ED-55E4-B0EE-993F5B3A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77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78CE-9D01-ED25-F05C-AFDFFE5C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EECE2-04A2-B3C8-09C5-FDAF9D99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2CC23-AB47-FF63-99FA-04F0D158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3CBD4-D9F1-CE94-F7F4-CB1B84144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BF99E-6313-977A-C715-42EE423B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96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D4DD-0BFF-CC97-C211-11920A78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6CC1E-0696-809D-F639-37B8C6171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48153-9DC4-5AEA-59F3-7D3B7EB9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F31C-D9D0-6D76-1D99-8803DD1E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B0B13-2365-5330-A1B8-1146A2224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8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9B00-3A42-E3C3-CC47-39278C56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75B8-F7F6-8325-88EF-595C5FE8D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CB95E-F346-4770-5FCC-E59C10B6A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93320-141E-B2B2-F9F6-5074232E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8B2C3-2317-E824-14F7-D52245F4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2C970-0A32-B60F-6AEF-B6063F2C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72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ED0C-0155-C0A3-E6D8-35759237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4E37D-69A3-8AA2-F094-2DBF6C66A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72128-8F44-3E50-FADF-008CAC57E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2B613-9C47-60A1-3218-A258DA211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7FDDB-1134-98B7-FB5F-49D2AE2F3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4A46D-B3A3-4BBC-607B-186F20A6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DC860-5E92-7C5D-AED7-0F70597F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8DCBA-7D54-9FD9-032D-42CE902F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9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F9F0-6C6C-6168-7820-DDB1D57C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D34BE-C3DA-9CFD-6E93-BDE516F2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50F44-1A2B-4AE6-AF2A-7C7D835B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021E2-F599-24C4-9342-68740BD7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00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0273A-5E58-7F65-F139-1A006989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D4024-D8E5-8D2A-48F1-5623AC76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D31EE-6C91-87AE-1F96-3582887E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76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A832-329D-D083-8AA3-E9A301F36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9ECD4-0238-EB8A-3D89-7795482D8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AB116-9B90-D5CC-A536-401EB9830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0E507-D204-61AA-BF91-7946BA1B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99B36-60E1-E637-4D39-E2A02709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5B292-24A7-CDDC-B742-6C59EA2F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59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9A71-DCB2-7F44-9A42-6479498C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802F5-3ACA-B522-F310-0A446FDDC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358EC-A9B0-A71E-7F9C-5DB75BAC7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F717E-AEAB-768D-4CF9-369F9BC9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99D7-5EAD-2369-1EDE-47ED5AAD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94F83-ABA1-0FE8-6925-1D07D6FA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439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433B-BD79-812B-4F3A-B715BD5B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1AD86-5F87-AD49-CBC0-3F47BB8D7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558DB-A37C-A722-311F-91BFC9A8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51B8A-1676-0BDD-21AB-BB9EA089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4A057-D145-E7F3-5AF7-B558B4D7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88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D22EFA-BF8D-2C18-FA27-385179420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18037-4002-CEDE-379D-49FD8E2BF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659BC-8C25-9147-1F34-A57C813F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DA059-CCA1-DF72-A44C-D3349049A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81F7A-0B0C-939E-DD20-5B50E5DA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23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60950-32B4-83F6-E272-DF380C8F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87CF7-4E2D-991A-CED2-BF741CA68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B6264-5EA0-D4CC-FE1A-D8478E6FD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7073B-89AF-4EE7-989E-7E254B1A4C64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099DD-10AB-6BC7-7D2A-C81777827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CD923-2D18-5AFE-8B22-FE24C4506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59145-2AB0-44AF-ACEC-A66CD1D7B6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3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ore/diagnostics/dotnet-counter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microsoft.com/dotnet/performance-improvements-in-net-8/" TargetMode="External"/><Relationship Id="rId7" Type="http://schemas.openxmlformats.org/officeDocument/2006/relationships/hyperlink" Target="https://www.nuget.org/packages/ZLinq" TargetMode="External"/><Relationship Id="rId2" Type="http://schemas.openxmlformats.org/officeDocument/2006/relationships/hyperlink" Target="https://devblogs.microsoft.com/dotnet/performance_improvements_in_net_7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ysharp/ZLinq" TargetMode="External"/><Relationship Id="rId5" Type="http://schemas.openxmlformats.org/officeDocument/2006/relationships/hyperlink" Target="https://nodogmapodcast.bryanhogan.net/122-matt-warren-how-the-net-runtime-has-changed/" TargetMode="External"/><Relationship Id="rId4" Type="http://schemas.openxmlformats.org/officeDocument/2006/relationships/hyperlink" Target="https://devblogs.microsoft.com/dotnet/performance-improvements-in-net-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spaceship&#10;&#10;AI-generated content may be incorrect.">
            <a:extLst>
              <a:ext uri="{FF2B5EF4-FFF2-40B4-BE49-F238E27FC236}">
                <a16:creationId xmlns:a16="http://schemas.microsoft.com/office/drawing/2014/main" id="{7F191922-80E1-75ED-00F2-8A6D03928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99" y="1234770"/>
            <a:ext cx="6549558" cy="2475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8DE0C3-4900-9FD6-4D1A-E82F38F42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569" y="1234770"/>
            <a:ext cx="3754721" cy="4388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3009D6-A369-C2A0-57C1-CCA66CA74DAB}"/>
              </a:ext>
            </a:extLst>
          </p:cNvPr>
          <p:cNvSpPr txBox="1"/>
          <p:nvPr/>
        </p:nvSpPr>
        <p:spPr>
          <a:xfrm>
            <a:off x="598882" y="4547665"/>
            <a:ext cx="628447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to look under the hood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How to avoid unnecessary heap allocations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Learn a few tricks and gains some insights</a:t>
            </a:r>
          </a:p>
          <a:p>
            <a:pPr marL="342900" indent="-342900">
              <a:buFontTx/>
              <a:buChar char="-"/>
            </a:pP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1888D0-F02B-32FC-2E32-2DD2FCA7EDB8}"/>
              </a:ext>
            </a:extLst>
          </p:cNvPr>
          <p:cNvSpPr txBox="1"/>
          <p:nvPr/>
        </p:nvSpPr>
        <p:spPr>
          <a:xfrm>
            <a:off x="7880569" y="5704872"/>
            <a:ext cx="3085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“Just remember it’s not a bible…”</a:t>
            </a:r>
            <a:endParaRPr lang="en-GB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BF3F5-0C0E-9655-70BA-5BEEEFB892B4}"/>
              </a:ext>
            </a:extLst>
          </p:cNvPr>
          <p:cNvSpPr txBox="1"/>
          <p:nvPr/>
        </p:nvSpPr>
        <p:spPr>
          <a:xfrm>
            <a:off x="787299" y="316786"/>
            <a:ext cx="9567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Tips and Tricks for C# code performance optimization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A26B3-85A3-C878-A968-6F2A5BE6ED22}"/>
              </a:ext>
            </a:extLst>
          </p:cNvPr>
          <p:cNvSpPr txBox="1"/>
          <p:nvPr/>
        </p:nvSpPr>
        <p:spPr>
          <a:xfrm>
            <a:off x="598883" y="3881247"/>
            <a:ext cx="2601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Goals: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067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2A0074D2-3DF9-89F4-4911-369D034B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669" y="1595230"/>
            <a:ext cx="7516274" cy="1552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2FCC31-8B1B-CFAA-208C-EF524E3F2130}"/>
              </a:ext>
            </a:extLst>
          </p:cNvPr>
          <p:cNvSpPr txBox="1"/>
          <p:nvPr/>
        </p:nvSpPr>
        <p:spPr>
          <a:xfrm>
            <a:off x="471949" y="265472"/>
            <a:ext cx="105500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Generational garbage collector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Stages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Mark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Plan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Compact? (survival rate more than 90%) =&gt; Sweep (free memory)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Relocate</a:t>
            </a:r>
            <a:br>
              <a:rPr lang="en-US" sz="2800" dirty="0"/>
            </a:br>
            <a:endParaRPr lang="en-GB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C1FAD-E199-42B8-6669-7748CDF4CDA1}"/>
              </a:ext>
            </a:extLst>
          </p:cNvPr>
          <p:cNvSpPr/>
          <p:nvPr/>
        </p:nvSpPr>
        <p:spPr>
          <a:xfrm>
            <a:off x="668593" y="4643806"/>
            <a:ext cx="4837471" cy="18238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7449-B0DC-264F-883D-C39A51E6924D}"/>
              </a:ext>
            </a:extLst>
          </p:cNvPr>
          <p:cNvSpPr/>
          <p:nvPr/>
        </p:nvSpPr>
        <p:spPr>
          <a:xfrm>
            <a:off x="6459792" y="4643805"/>
            <a:ext cx="4837471" cy="18238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3FEEA8-A092-7D79-E13C-A2909ABC1E5E}"/>
              </a:ext>
            </a:extLst>
          </p:cNvPr>
          <p:cNvSpPr txBox="1"/>
          <p:nvPr/>
        </p:nvSpPr>
        <p:spPr>
          <a:xfrm>
            <a:off x="1256621" y="5153221"/>
            <a:ext cx="807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sArray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30BEF-B714-291E-644F-C8BD636449A0}"/>
              </a:ext>
            </a:extLst>
          </p:cNvPr>
          <p:cNvSpPr txBox="1"/>
          <p:nvPr/>
        </p:nvSpPr>
        <p:spPr>
          <a:xfrm>
            <a:off x="1256621" y="4799641"/>
            <a:ext cx="73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5095EF-9A60-54D5-3248-C16D0EECBF29}"/>
              </a:ext>
            </a:extLst>
          </p:cNvPr>
          <p:cNvSpPr txBox="1"/>
          <p:nvPr/>
        </p:nvSpPr>
        <p:spPr>
          <a:xfrm>
            <a:off x="1277735" y="5516691"/>
            <a:ext cx="3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263588-F0B4-753D-52C9-E43A37477CD6}"/>
              </a:ext>
            </a:extLst>
          </p:cNvPr>
          <p:cNvSpPr txBox="1"/>
          <p:nvPr/>
        </p:nvSpPr>
        <p:spPr>
          <a:xfrm>
            <a:off x="1286107" y="5909326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2E2D87-EE2C-62BA-3317-26A2AEDBD95E}"/>
              </a:ext>
            </a:extLst>
          </p:cNvPr>
          <p:cNvSpPr/>
          <p:nvPr/>
        </p:nvSpPr>
        <p:spPr>
          <a:xfrm>
            <a:off x="2333725" y="4828067"/>
            <a:ext cx="3112407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A630D7-89FD-B2B9-02BF-5F4D0EA7559E}"/>
              </a:ext>
            </a:extLst>
          </p:cNvPr>
          <p:cNvSpPr/>
          <p:nvPr/>
        </p:nvSpPr>
        <p:spPr>
          <a:xfrm>
            <a:off x="2327156" y="5245479"/>
            <a:ext cx="1051551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D6FB59-C876-1FAA-9531-4D03370C1204}"/>
              </a:ext>
            </a:extLst>
          </p:cNvPr>
          <p:cNvSpPr/>
          <p:nvPr/>
        </p:nvSpPr>
        <p:spPr>
          <a:xfrm>
            <a:off x="2327664" y="5585837"/>
            <a:ext cx="1051551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83DF79-ED65-CB86-9DE8-2A4250C99474}"/>
              </a:ext>
            </a:extLst>
          </p:cNvPr>
          <p:cNvSpPr/>
          <p:nvPr/>
        </p:nvSpPr>
        <p:spPr>
          <a:xfrm>
            <a:off x="2333725" y="5937753"/>
            <a:ext cx="1051551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90A728-7BD3-4FDB-DBA9-A535FF61BB66}"/>
              </a:ext>
            </a:extLst>
          </p:cNvPr>
          <p:cNvSpPr/>
          <p:nvPr/>
        </p:nvSpPr>
        <p:spPr>
          <a:xfrm>
            <a:off x="7024208" y="4827926"/>
            <a:ext cx="3685555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10,20,30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726B42-B40B-F18E-A5B4-60163C26CED9}"/>
              </a:ext>
            </a:extLst>
          </p:cNvPr>
          <p:cNvSpPr txBox="1"/>
          <p:nvPr/>
        </p:nvSpPr>
        <p:spPr>
          <a:xfrm rot="5400000">
            <a:off x="524634" y="5371081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9E98D8-EB30-0706-6C2B-F1F205789C66}"/>
              </a:ext>
            </a:extLst>
          </p:cNvPr>
          <p:cNvSpPr txBox="1"/>
          <p:nvPr/>
        </p:nvSpPr>
        <p:spPr>
          <a:xfrm rot="5400000">
            <a:off x="10750959" y="533240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Heap</a:t>
            </a:r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69F0E3-5C95-C15F-E3FB-94528D3492AD}"/>
              </a:ext>
            </a:extLst>
          </p:cNvPr>
          <p:cNvSpPr/>
          <p:nvPr/>
        </p:nvSpPr>
        <p:spPr>
          <a:xfrm>
            <a:off x="7032521" y="5249129"/>
            <a:ext cx="3685555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400413-162B-590D-8C69-F36B01A9DDE1}"/>
              </a:ext>
            </a:extLst>
          </p:cNvPr>
          <p:cNvSpPr/>
          <p:nvPr/>
        </p:nvSpPr>
        <p:spPr>
          <a:xfrm>
            <a:off x="9733446" y="5866524"/>
            <a:ext cx="1023803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212839-CC53-4AC2-E408-011A5F277688}"/>
              </a:ext>
            </a:extLst>
          </p:cNvPr>
          <p:cNvSpPr/>
          <p:nvPr/>
        </p:nvSpPr>
        <p:spPr>
          <a:xfrm>
            <a:off x="8467605" y="5884456"/>
            <a:ext cx="1023802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0FA95F-0E62-BCA7-72F6-75EA61C2897F}"/>
              </a:ext>
            </a:extLst>
          </p:cNvPr>
          <p:cNvSpPr/>
          <p:nvPr/>
        </p:nvSpPr>
        <p:spPr>
          <a:xfrm>
            <a:off x="7064163" y="5884456"/>
            <a:ext cx="988456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1" name="Picture 3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734F053-E743-030F-95E3-9DF14061E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765" y="3030848"/>
            <a:ext cx="6177313" cy="138960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AEC1C83-F244-AF34-3426-A4080A699D1F}"/>
              </a:ext>
            </a:extLst>
          </p:cNvPr>
          <p:cNvSpPr/>
          <p:nvPr/>
        </p:nvSpPr>
        <p:spPr>
          <a:xfrm>
            <a:off x="9571078" y="5249129"/>
            <a:ext cx="1155312" cy="3066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A1C807-4AD7-AA94-5565-487D491F7A68}"/>
              </a:ext>
            </a:extLst>
          </p:cNvPr>
          <p:cNvSpPr/>
          <p:nvPr/>
        </p:nvSpPr>
        <p:spPr>
          <a:xfrm>
            <a:off x="8347586" y="5249934"/>
            <a:ext cx="1215178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B428D0-1766-FE36-7168-33EF01934316}"/>
              </a:ext>
            </a:extLst>
          </p:cNvPr>
          <p:cNvSpPr/>
          <p:nvPr/>
        </p:nvSpPr>
        <p:spPr>
          <a:xfrm>
            <a:off x="7024207" y="5249129"/>
            <a:ext cx="1323379" cy="306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C40657-8DD7-1C7E-734B-40956A6ACB23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5446132" y="4981235"/>
            <a:ext cx="1578076" cy="141"/>
          </a:xfrm>
          <a:prstGeom prst="straightConnector1">
            <a:avLst/>
          </a:prstGeom>
          <a:ln w="34925">
            <a:solidFill>
              <a:schemeClr val="tx1"/>
            </a:solidFill>
            <a:prstDash val="sysDot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3E007A-2435-9BBF-5DD5-F0BDED4A5BD6}"/>
              </a:ext>
            </a:extLst>
          </p:cNvPr>
          <p:cNvCxnSpPr>
            <a:cxnSpLocks/>
            <a:stCxn id="20" idx="3"/>
            <a:endCxn id="34" idx="1"/>
          </p:cNvCxnSpPr>
          <p:nvPr/>
        </p:nvCxnSpPr>
        <p:spPr>
          <a:xfrm>
            <a:off x="3378707" y="5398788"/>
            <a:ext cx="3645500" cy="3650"/>
          </a:xfrm>
          <a:prstGeom prst="straightConnector1">
            <a:avLst/>
          </a:prstGeom>
          <a:ln w="34925">
            <a:solidFill>
              <a:schemeClr val="tx1"/>
            </a:solidFill>
            <a:prstDash val="sysDot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E87D0E5-6AAF-8B71-011B-742FBDFA7BE1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3385275" y="6019833"/>
            <a:ext cx="6348171" cy="54357"/>
          </a:xfrm>
          <a:prstGeom prst="straightConnector1">
            <a:avLst/>
          </a:prstGeom>
          <a:ln w="34925">
            <a:solidFill>
              <a:schemeClr val="tx1"/>
            </a:solidFill>
            <a:prstDash val="sysDot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A44AEBC-233A-48F8-EBA7-2363FB576F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05041" y="3145462"/>
            <a:ext cx="2122541" cy="865732"/>
          </a:xfrm>
          <a:prstGeom prst="bentConnector3">
            <a:avLst>
              <a:gd name="adj1" fmla="val -4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173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613B-9D5C-C5A3-6B4F-5FFEF12E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226142"/>
            <a:ext cx="10515600" cy="766916"/>
          </a:xfrm>
        </p:spPr>
        <p:txBody>
          <a:bodyPr/>
          <a:lstStyle/>
          <a:p>
            <a:r>
              <a:rPr lang="en-US" dirty="0"/>
              <a:t>Fast code is ugly code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145AF-98B4-493B-4365-8DA9D3EBB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7" y="1148686"/>
            <a:ext cx="8347588" cy="1022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70FE66-AA54-D497-AFA9-C9039F7613B3}"/>
              </a:ext>
            </a:extLst>
          </p:cNvPr>
          <p:cNvSpPr txBox="1"/>
          <p:nvPr/>
        </p:nvSpPr>
        <p:spPr>
          <a:xfrm>
            <a:off x="2113935" y="1081548"/>
            <a:ext cx="1652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Maintainability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BB4FD-C926-F4B8-5A5A-5BBE131408A7}"/>
              </a:ext>
            </a:extLst>
          </p:cNvPr>
          <p:cNvSpPr txBox="1"/>
          <p:nvPr/>
        </p:nvSpPr>
        <p:spPr>
          <a:xfrm>
            <a:off x="8609521" y="1212577"/>
            <a:ext cx="14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Performance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7F2375A-2AE1-FA58-A99F-CB998F6D0C1C}"/>
              </a:ext>
            </a:extLst>
          </p:cNvPr>
          <p:cNvCxnSpPr>
            <a:cxnSpLocks/>
          </p:cNvCxnSpPr>
          <p:nvPr/>
        </p:nvCxnSpPr>
        <p:spPr>
          <a:xfrm flipV="1">
            <a:off x="2752246" y="5667869"/>
            <a:ext cx="2514891" cy="71845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F22DEC-297C-792D-E718-BD570BA89FB1}"/>
              </a:ext>
            </a:extLst>
          </p:cNvPr>
          <p:cNvSpPr txBox="1"/>
          <p:nvPr/>
        </p:nvSpPr>
        <p:spPr>
          <a:xfrm>
            <a:off x="612850" y="5142909"/>
            <a:ext cx="4654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on Hot Path when performance required</a:t>
            </a:r>
            <a:endParaRPr lang="en-GB" dirty="0"/>
          </a:p>
        </p:txBody>
      </p:sp>
      <p:pic>
        <p:nvPicPr>
          <p:cNvPr id="13" name="Picture 1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C80722F-98E1-8A52-332D-607AB01E5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073" y="2095247"/>
            <a:ext cx="6063124" cy="4443255"/>
          </a:xfrm>
          <a:prstGeom prst="rect">
            <a:avLst/>
          </a:prstGeom>
        </p:spPr>
      </p:pic>
      <p:pic>
        <p:nvPicPr>
          <p:cNvPr id="15" name="Picture 1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1A73CEA-19E6-29F6-262D-C8811796C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03" y="2170761"/>
            <a:ext cx="480127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72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AA2C5-3EC0-F90E-1A8B-88D4B9DBD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890" y="1538466"/>
            <a:ext cx="10515600" cy="4351338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General advice</a:t>
            </a:r>
          </a:p>
          <a:p>
            <a:pPr lvl="1"/>
            <a:r>
              <a:rPr lang="en-US" dirty="0"/>
              <a:t>Ensure all your code is testable</a:t>
            </a:r>
          </a:p>
          <a:p>
            <a:pPr lvl="2"/>
            <a:r>
              <a:rPr lang="en-US" dirty="0"/>
              <a:t>Dependency injection -&gt; tests</a:t>
            </a:r>
          </a:p>
          <a:p>
            <a:pPr lvl="1"/>
            <a:r>
              <a:rPr lang="en-US" b="1" dirty="0"/>
              <a:t>Understand your tools and settings (e.g. </a:t>
            </a:r>
            <a:r>
              <a:rPr lang="en-US" b="1" dirty="0" err="1"/>
              <a:t>Zlinq</a:t>
            </a:r>
            <a:r>
              <a:rPr lang="en-US" b="1" dirty="0"/>
              <a:t>, Span </a:t>
            </a:r>
            <a:r>
              <a:rPr lang="en-US" b="1" dirty="0" err="1"/>
              <a:t>etc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Benchmark before optimizations</a:t>
            </a:r>
          </a:p>
          <a:p>
            <a:pPr lvl="2"/>
            <a:r>
              <a:rPr lang="en-US" dirty="0"/>
              <a:t>Measure before &amp; after</a:t>
            </a:r>
          </a:p>
          <a:p>
            <a:pPr lvl="1"/>
            <a:r>
              <a:rPr lang="en-US" dirty="0"/>
              <a:t>Use the Result Pattern</a:t>
            </a:r>
          </a:p>
          <a:p>
            <a:pPr lvl="2"/>
            <a:r>
              <a:rPr lang="en-US" dirty="0"/>
              <a:t>Only throw exceptions in extreme situations!</a:t>
            </a:r>
          </a:p>
          <a:p>
            <a:pPr lvl="1"/>
            <a:r>
              <a:rPr lang="en-US" dirty="0"/>
              <a:t>Don’t parallelize unnecessarily</a:t>
            </a:r>
          </a:p>
          <a:p>
            <a:pPr lvl="1"/>
            <a:r>
              <a:rPr lang="en-GB" dirty="0"/>
              <a:t>Read the documentation</a:t>
            </a:r>
          </a:p>
          <a:p>
            <a:pPr lvl="2"/>
            <a:r>
              <a:rPr lang="en-GB" dirty="0"/>
              <a:t>Stephen Toub’s blog posts</a:t>
            </a:r>
          </a:p>
          <a:p>
            <a:pPr lvl="3"/>
            <a:r>
              <a:rPr lang="en-GB" dirty="0"/>
              <a:t>Tiered compilation</a:t>
            </a:r>
          </a:p>
          <a:p>
            <a:pPr lvl="3"/>
            <a:r>
              <a:rPr lang="en-GB" dirty="0"/>
              <a:t>Frozen dictionary</a:t>
            </a:r>
          </a:p>
          <a:p>
            <a:pPr lvl="3"/>
            <a:r>
              <a:rPr lang="en-GB" dirty="0"/>
              <a:t>…</a:t>
            </a:r>
          </a:p>
          <a:p>
            <a:pPr lvl="1"/>
            <a:r>
              <a:rPr lang="en-GB" dirty="0"/>
              <a:t>Best optimisations are DB/IO/Architecture</a:t>
            </a:r>
          </a:p>
          <a:p>
            <a:pPr lvl="2"/>
            <a:r>
              <a:rPr lang="en-GB" dirty="0"/>
              <a:t>Micro-optimisations are the exception</a:t>
            </a:r>
          </a:p>
          <a:p>
            <a:pPr lvl="2"/>
            <a:r>
              <a:rPr lang="en-GB" dirty="0"/>
              <a:t>Be careful micro-optimisation is addictive</a:t>
            </a:r>
          </a:p>
          <a:p>
            <a:pPr lvl="1"/>
            <a:r>
              <a:rPr lang="en-GB" dirty="0"/>
              <a:t>Understand your tools</a:t>
            </a:r>
          </a:p>
          <a:p>
            <a:pPr lvl="2"/>
            <a:r>
              <a:rPr lang="en-GB" dirty="0" err="1"/>
              <a:t>ILSpy</a:t>
            </a:r>
            <a:endParaRPr lang="en-GB" dirty="0"/>
          </a:p>
          <a:p>
            <a:pPr lvl="2"/>
            <a:r>
              <a:rPr lang="en-GB" dirty="0"/>
              <a:t>SharpLab.io</a:t>
            </a:r>
          </a:p>
          <a:p>
            <a:pPr lvl="2"/>
            <a:r>
              <a:rPr lang="en-GB" dirty="0"/>
              <a:t>VS Performance Profiler</a:t>
            </a:r>
          </a:p>
          <a:p>
            <a:pPr lvl="2"/>
            <a:r>
              <a:rPr lang="en-GB" dirty="0"/>
              <a:t>Dotnet-counters</a:t>
            </a:r>
          </a:p>
          <a:p>
            <a:pPr lvl="1"/>
            <a:r>
              <a:rPr lang="en-GB" dirty="0"/>
              <a:t>Update Dot Net Core Runtime when possible</a:t>
            </a:r>
          </a:p>
          <a:p>
            <a:pPr lvl="2"/>
            <a:r>
              <a:rPr lang="en-GB" dirty="0"/>
              <a:t>Use Span, </a:t>
            </a:r>
            <a:r>
              <a:rPr lang="en-GB" dirty="0" err="1"/>
              <a:t>FronzenDictionary</a:t>
            </a:r>
            <a:r>
              <a:rPr lang="en-GB" dirty="0"/>
              <a:t> etc.</a:t>
            </a:r>
          </a:p>
          <a:p>
            <a:pPr lvl="2"/>
            <a:endParaRPr lang="en-GB" dirty="0"/>
          </a:p>
          <a:p>
            <a:pPr lvl="2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98D3E-A876-8E63-001E-33CD078C8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939" y="1399237"/>
            <a:ext cx="5630061" cy="4629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FBDF57-2D49-479C-0B76-B5E1A06ABF1F}"/>
              </a:ext>
            </a:extLst>
          </p:cNvPr>
          <p:cNvSpPr txBox="1"/>
          <p:nvPr/>
        </p:nvSpPr>
        <p:spPr>
          <a:xfrm>
            <a:off x="718457" y="816429"/>
            <a:ext cx="480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PRIMARY GOAL: REDUCE HEAP ALLOCATIONS</a:t>
            </a:r>
            <a:endParaRPr lang="en-GB" dirty="0"/>
          </a:p>
        </p:txBody>
      </p:sp>
      <p:pic>
        <p:nvPicPr>
          <p:cNvPr id="4" name="Picture 3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659626EF-D852-381B-928F-1F280EFBB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8" y="5435868"/>
            <a:ext cx="2019883" cy="118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5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F75E27-BEEB-5DB5-DD19-852845E4A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85" y="1329534"/>
            <a:ext cx="10234691" cy="454875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33614DB-D050-F33F-DF89-C1B083DC16A6}"/>
              </a:ext>
            </a:extLst>
          </p:cNvPr>
          <p:cNvSpPr txBox="1">
            <a:spLocks/>
          </p:cNvSpPr>
          <p:nvPr/>
        </p:nvSpPr>
        <p:spPr>
          <a:xfrm>
            <a:off x="493886" y="281329"/>
            <a:ext cx="7522029" cy="639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IL Spy (Visual Studio Extension)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66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EC1C68A-2892-A245-B58B-9BECA4271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58" y="1494399"/>
            <a:ext cx="11560542" cy="48162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7BFBF5F-0C94-943F-DE37-78953EE7A9CE}"/>
              </a:ext>
            </a:extLst>
          </p:cNvPr>
          <p:cNvSpPr txBox="1">
            <a:spLocks/>
          </p:cNvSpPr>
          <p:nvPr/>
        </p:nvSpPr>
        <p:spPr>
          <a:xfrm>
            <a:off x="493886" y="281329"/>
            <a:ext cx="7522029" cy="639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SharpLab.io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0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951F-E285-F85A-93AC-AAD7AF40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337769"/>
            <a:ext cx="10515600" cy="815617"/>
          </a:xfrm>
        </p:spPr>
        <p:txBody>
          <a:bodyPr/>
          <a:lstStyle/>
          <a:p>
            <a:r>
              <a:rPr lang="en-US" dirty="0"/>
              <a:t>dotnet-counters</a:t>
            </a:r>
            <a:endParaRPr lang="en-GB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3DCA029-F29A-819A-34A7-9E0FBB466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0" y="1690688"/>
            <a:ext cx="4248003" cy="4421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1C832C-9136-6192-C99A-63A4D1B7E38E}"/>
              </a:ext>
            </a:extLst>
          </p:cNvPr>
          <p:cNvSpPr txBox="1"/>
          <p:nvPr/>
        </p:nvSpPr>
        <p:spPr>
          <a:xfrm>
            <a:off x="346587" y="1052705"/>
            <a:ext cx="669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dotnet-counters diagnostic tool - .NET CLI - .NET | Microsoft Learn</a:t>
            </a:r>
            <a:endParaRPr lang="en-GB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15AAEF-6A31-3769-EFAB-6C59C8392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073" y="1582992"/>
            <a:ext cx="3445853" cy="2176709"/>
          </a:xfrm>
          <a:prstGeom prst="rect">
            <a:avLst/>
          </a:prstGeom>
        </p:spPr>
      </p:pic>
      <p:pic>
        <p:nvPicPr>
          <p:cNvPr id="12" name="Picture 11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D2D896EA-94C5-711C-631D-692C2CD03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495" y="3901555"/>
            <a:ext cx="2403316" cy="21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DAF6-F905-1C33-AB3C-8BFA532B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56" y="409800"/>
            <a:ext cx="9426677" cy="342798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 Studio Profiler</a:t>
            </a:r>
            <a:endParaRPr lang="en-GB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AAE6CA-EBD3-DAA1-9007-65DD2CE01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6" y="3010003"/>
            <a:ext cx="5425987" cy="2920181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592F3E-F871-0F5C-A586-DBE8DB20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10002"/>
            <a:ext cx="5454356" cy="292018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B6213B-30BE-C24C-8674-BFE14B912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70679"/>
            <a:ext cx="3873910" cy="182124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B4F8A4-C3D3-F2C5-A9CD-BE99463F6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56" y="970679"/>
            <a:ext cx="3052036" cy="182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9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3292-3446-0EDB-3E93-0F48C1C9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55" y="276531"/>
            <a:ext cx="10515600" cy="814746"/>
          </a:xfrm>
        </p:spPr>
        <p:txBody>
          <a:bodyPr/>
          <a:lstStyle/>
          <a:p>
            <a:r>
              <a:rPr lang="en-US" dirty="0"/>
              <a:t>Demo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2565-2BBA-7C9A-5B9D-215DDC5F5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55" y="141538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1600" dirty="0"/>
              <a:t>Result Pattern</a:t>
            </a:r>
          </a:p>
          <a:p>
            <a:r>
              <a:rPr lang="en-US" sz="1600" dirty="0"/>
              <a:t>Fast way to add/update dictionaries</a:t>
            </a:r>
          </a:p>
          <a:p>
            <a:r>
              <a:rPr lang="en-US" sz="1600" dirty="0"/>
              <a:t>Fast iteration benchmarks</a:t>
            </a:r>
          </a:p>
          <a:p>
            <a:r>
              <a:rPr lang="en-GB" sz="1600" dirty="0" err="1"/>
              <a:t>Zlinq</a:t>
            </a:r>
            <a:endParaRPr lang="en-GB" sz="1600" dirty="0"/>
          </a:p>
          <a:p>
            <a:r>
              <a:rPr lang="en-GB" sz="1600" dirty="0"/>
              <a:t>Frozen Dictionary</a:t>
            </a:r>
          </a:p>
          <a:p>
            <a:r>
              <a:rPr lang="en-GB" sz="1600" dirty="0"/>
              <a:t>Ref struct</a:t>
            </a:r>
          </a:p>
          <a:p>
            <a:r>
              <a:rPr lang="en-US" sz="1600" dirty="0"/>
              <a:t>Casting</a:t>
            </a:r>
          </a:p>
          <a:p>
            <a:r>
              <a:rPr lang="en-US" sz="1600" dirty="0"/>
              <a:t>How Generics affect performance</a:t>
            </a:r>
          </a:p>
          <a:p>
            <a:pPr lvl="1"/>
            <a:r>
              <a:rPr lang="en-US" sz="1600" dirty="0"/>
              <a:t>Boxing</a:t>
            </a:r>
          </a:p>
          <a:p>
            <a:pPr lvl="1"/>
            <a:r>
              <a:rPr lang="en-US" sz="1600" dirty="0" err="1"/>
              <a:t>GenericList</a:t>
            </a:r>
            <a:endParaRPr lang="en-US" sz="1600" dirty="0"/>
          </a:p>
          <a:p>
            <a:pPr lvl="1"/>
            <a:r>
              <a:rPr lang="en-US" sz="1600" dirty="0"/>
              <a:t>Service</a:t>
            </a:r>
          </a:p>
          <a:p>
            <a:pPr lvl="1"/>
            <a:r>
              <a:rPr lang="en-US" sz="1600" dirty="0" err="1"/>
              <a:t>CallpathElimination</a:t>
            </a:r>
            <a:endParaRPr lang="en-US" sz="1600" dirty="0"/>
          </a:p>
          <a:p>
            <a:pPr lvl="2"/>
            <a:r>
              <a:rPr lang="en-US" sz="1600" dirty="0" err="1"/>
              <a:t>CallpathFactory</a:t>
            </a:r>
            <a:endParaRPr lang="en-US" sz="1600" dirty="0"/>
          </a:p>
          <a:p>
            <a:r>
              <a:rPr lang="en-GB" sz="1600" dirty="0"/>
              <a:t>Span</a:t>
            </a:r>
          </a:p>
          <a:p>
            <a:r>
              <a:rPr lang="en-GB" sz="1600" dirty="0"/>
              <a:t>CSV Parser</a:t>
            </a:r>
          </a:p>
          <a:p>
            <a:r>
              <a:rPr lang="en-GB" sz="1600" dirty="0"/>
              <a:t>In and out keywords with ref struct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6400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EC81-AB7E-515F-98DB-93AD57E02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214"/>
            <a:ext cx="10515600" cy="5768749"/>
          </a:xfrm>
        </p:spPr>
        <p:txBody>
          <a:bodyPr/>
          <a:lstStyle/>
          <a:p>
            <a:r>
              <a:rPr lang="en-US" dirty="0"/>
              <a:t>Resources</a:t>
            </a:r>
            <a:r>
              <a:rPr lang="en-GB" dirty="0"/>
              <a:t>	</a:t>
            </a:r>
            <a:endParaRPr lang="en-GB" b="1" dirty="0"/>
          </a:p>
          <a:p>
            <a:pPr lvl="1"/>
            <a:r>
              <a:rPr lang="en-GB" sz="1800" dirty="0"/>
              <a:t>CLR via C#4 by Jeffrey Richter</a:t>
            </a:r>
          </a:p>
          <a:p>
            <a:pPr lvl="1"/>
            <a:r>
              <a:rPr lang="en-US" sz="1800" dirty="0"/>
              <a:t>Stephen Toub (Partner Software Engineer)</a:t>
            </a:r>
          </a:p>
          <a:p>
            <a:pPr lvl="2"/>
            <a:r>
              <a:rPr lang="en-GB" sz="1800" dirty="0">
                <a:hlinkClick r:id="rId2"/>
              </a:rPr>
              <a:t>Performance Improvements in .NET 7 - .NET Blog</a:t>
            </a:r>
            <a:endParaRPr lang="en-GB" sz="1800" dirty="0">
              <a:hlinkClick r:id="rId3"/>
            </a:endParaRPr>
          </a:p>
          <a:p>
            <a:pPr lvl="2"/>
            <a:r>
              <a:rPr lang="en-GB" sz="1800" dirty="0">
                <a:hlinkClick r:id="rId3"/>
              </a:rPr>
              <a:t>Performance Improvements in .NET 8 - .NET Blog</a:t>
            </a:r>
            <a:endParaRPr lang="en-GB" sz="1800" dirty="0"/>
          </a:p>
          <a:p>
            <a:pPr lvl="2"/>
            <a:r>
              <a:rPr lang="en-GB" sz="1800" dirty="0">
                <a:hlinkClick r:id="rId4"/>
              </a:rPr>
              <a:t>Performance Improvements in .NET 9 - .NET Blog</a:t>
            </a:r>
            <a:endParaRPr lang="en-GB" sz="1800" dirty="0"/>
          </a:p>
          <a:p>
            <a:pPr lvl="1"/>
            <a:r>
              <a:rPr lang="en-US" sz="1800" dirty="0">
                <a:hlinkClick r:id="rId5"/>
              </a:rPr>
              <a:t>#122 Matt Warren, How the .NET Runtime Has Changed | no dogma podcast</a:t>
            </a:r>
            <a:endParaRPr lang="en-US" sz="1800" dirty="0"/>
          </a:p>
          <a:p>
            <a:pPr lvl="1"/>
            <a:r>
              <a:rPr lang="en-GB" sz="1800" dirty="0"/>
              <a:t>Writing High-Performance .NET Code</a:t>
            </a:r>
            <a:r>
              <a:rPr lang="en-US" sz="1800" dirty="0"/>
              <a:t> – Ben Watson</a:t>
            </a:r>
          </a:p>
          <a:p>
            <a:pPr lvl="1"/>
            <a:r>
              <a:rPr lang="en-US" sz="1800" dirty="0"/>
              <a:t>High Performance .NET: Recipes and Thoughts for .NET 8, 9, and C# 12, 13 - Armen Melkumyan</a:t>
            </a:r>
          </a:p>
          <a:p>
            <a:pPr lvl="1"/>
            <a:endParaRPr lang="en-GB" dirty="0"/>
          </a:p>
          <a:p>
            <a:pPr lvl="1"/>
            <a:r>
              <a:rPr lang="en-GB" dirty="0" err="1"/>
              <a:t>Zlinq</a:t>
            </a:r>
            <a:endParaRPr lang="en-GB" dirty="0"/>
          </a:p>
          <a:p>
            <a:pPr lvl="1"/>
            <a:r>
              <a:rPr lang="en-GB" sz="1600" dirty="0">
                <a:hlinkClick r:id="rId6"/>
              </a:rPr>
              <a:t>https://github.com/Cysharp/ZLinq</a:t>
            </a:r>
            <a:endParaRPr lang="en-GB" sz="1600" dirty="0"/>
          </a:p>
          <a:p>
            <a:pPr lvl="1"/>
            <a:r>
              <a:rPr lang="en-GB" sz="1600" dirty="0">
                <a:hlinkClick r:id="rId7"/>
              </a:rPr>
              <a:t>https://www.nuget.org/packages/ZLinq</a:t>
            </a:r>
            <a:endParaRPr lang="en-GB" sz="1600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5615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Fast code is ugly code</vt:lpstr>
      <vt:lpstr>PowerPoint Presentation</vt:lpstr>
      <vt:lpstr>PowerPoint Presentation</vt:lpstr>
      <vt:lpstr>PowerPoint Presentation</vt:lpstr>
      <vt:lpstr>dotnet-counters</vt:lpstr>
      <vt:lpstr>Visual Studio Profiler</vt:lpstr>
      <vt:lpstr>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Hibbert</dc:creator>
  <cp:lastModifiedBy>Jean Hibbert</cp:lastModifiedBy>
  <cp:revision>14</cp:revision>
  <dcterms:created xsi:type="dcterms:W3CDTF">2025-11-10T19:37:52Z</dcterms:created>
  <dcterms:modified xsi:type="dcterms:W3CDTF">2025-11-25T21:52:41Z</dcterms:modified>
</cp:coreProperties>
</file>