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9" r:id="rId2"/>
    <p:sldId id="258" r:id="rId3"/>
    <p:sldId id="264" r:id="rId4"/>
    <p:sldId id="257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1326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D74822-7559-4916-B24A-593FC009153C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FB3932-155E-4F26-A6AA-E3FE22FBC1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814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52EF3-DD0D-0F22-E487-908820242C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0441D-462B-1A7D-D9BE-45D2D6FE47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395A0-F1E4-6738-62C1-63CDFE953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EF1B33-851B-ABDB-E3C6-D5BD065B9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4E2A49-F4ED-55E4-B0EE-993F5B3AA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772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D78CE-9D01-ED25-F05C-AFDFFE5C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7EECE2-04A2-B3C8-09C5-FDAF9D991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12CC23-AB47-FF63-99FA-04F0D1582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03CBD4-D9F1-CE94-F7F4-CB1B84144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BF99E-6313-977A-C715-42EE423B0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3962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BD4DD-0BFF-CC97-C211-11920A788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6CC1E-0696-809D-F639-37B8C61714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B48153-9DC4-5AEA-59F3-7D3B7EB9A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25F31C-D9D0-6D76-1D99-8803DD1EF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BB0B13-2365-5330-A1B8-1146A2224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782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D9B00-3A42-E3C3-CC47-39278C56C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875B8-F7F6-8325-88EF-595C5FE8D5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FCB95E-F346-4770-5FCC-E59C10B6A6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093320-141E-B2B2-F9F6-5074232ED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D8B2C3-2317-E824-14F7-D52245F48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02C970-0A32-B60F-6AEF-B6063F2C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4727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6ED0C-0155-C0A3-E6D8-357592372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4E37D-69A3-8AA2-F094-2DBF6C66A8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E72128-8F44-3E50-FADF-008CAC57E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72B613-9C47-60A1-3218-A258DA2111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F7FDDB-1134-98B7-FB5F-49D2AE2F33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94A46D-B3A3-4BBC-607B-186F20A6D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4DC860-5E92-7C5D-AED7-0F70597F9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B8DCBA-7D54-9FD9-032D-42CE902FA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793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2F9F0-6C6C-6168-7820-DDB1D57CC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3D34BE-C3DA-9CFD-6E93-BDE516F28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350F44-1A2B-4AE6-AF2A-7C7D835BA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A021E2-F599-24C4-9342-68740BD7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4003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60273A-5E58-7F65-F139-1A006989D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BD4024-D8E5-8D2A-48F1-5623AC761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6D31EE-6C91-87AE-1F96-3582887ED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4767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3A832-329D-D083-8AA3-E9A301F36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99ECD4-0238-EB8A-3D89-7795482D8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BAB116-9B90-D5CC-A536-401EB98301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0E507-D204-61AA-BF91-7946BA1B7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599B36-60E1-E637-4D39-E2A027092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85B292-24A7-CDDC-B742-6C59EA2F6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0593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B9A71-DCB2-7F44-9A42-6479498C5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4802F5-3ACA-B522-F310-0A446FDDCD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C358EC-A9B0-A71E-7F9C-5DB75BAC76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1F717E-AEAB-768D-4CF9-369F9BC97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699D7-5EAD-2369-1EDE-47ED5AAD0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494F83-ABA1-0FE8-6925-1D07D6FA4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439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0433B-BD79-812B-4F3A-B715BD5B3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C1AD86-5F87-AD49-CBC0-3F47BB8D7C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8558DB-A37C-A722-311F-91BFC9A8A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151B8A-1676-0BDD-21AB-BB9EA0890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F4A057-D145-E7F3-5AF7-B558B4D70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2884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D22EFA-BF8D-2C18-FA27-3851794203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B18037-4002-CEDE-379D-49FD8E2BF8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0659BC-8C25-9147-1F34-A57C813F5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DA059-CCA1-DF72-A44C-D3349049A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D81F7A-0B0C-939E-DD20-5B50E5DA9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238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760950-32B4-83F6-E272-DF380C8FE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587CF7-4E2D-991A-CED2-BF741CA684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7B6264-5EA0-D4CC-FE1A-D8478E6FDD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E7073B-89AF-4EE7-989E-7E254B1A4C64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099DD-10AB-6BC7-7D2A-C817778274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CCD923-2D18-5AFE-8B22-FE24C45067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836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spaceship&#10;&#10;AI-generated content may be incorrect.">
            <a:extLst>
              <a:ext uri="{FF2B5EF4-FFF2-40B4-BE49-F238E27FC236}">
                <a16:creationId xmlns:a16="http://schemas.microsoft.com/office/drawing/2014/main" id="{7F191922-80E1-75ED-00F2-8A6D039282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313" y="542770"/>
            <a:ext cx="6549558" cy="24757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8DE0C3-4900-9FD6-4D1A-E82F38F429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1840" y="456785"/>
            <a:ext cx="3562847" cy="59444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23009D6-A369-C2A0-57C1-CCA66CA74DAB}"/>
              </a:ext>
            </a:extLst>
          </p:cNvPr>
          <p:cNvSpPr txBox="1"/>
          <p:nvPr/>
        </p:nvSpPr>
        <p:spPr>
          <a:xfrm>
            <a:off x="489007" y="3429000"/>
            <a:ext cx="6846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The importance of knowing what’s under the hood.</a:t>
            </a:r>
            <a:endParaRPr lang="en-GB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1888D0-F02B-32FC-2E32-2DD2FCA7EDB8}"/>
              </a:ext>
            </a:extLst>
          </p:cNvPr>
          <p:cNvSpPr txBox="1"/>
          <p:nvPr/>
        </p:nvSpPr>
        <p:spPr>
          <a:xfrm>
            <a:off x="489007" y="4053348"/>
            <a:ext cx="30857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“Just remember it’s not a bible…”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20678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4613B-9D5C-C5A3-6B4F-5FFEF12E9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58" y="226142"/>
            <a:ext cx="10515600" cy="766916"/>
          </a:xfrm>
        </p:spPr>
        <p:txBody>
          <a:bodyPr/>
          <a:lstStyle/>
          <a:p>
            <a:r>
              <a:rPr lang="en-US" dirty="0"/>
              <a:t>The tradeoff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7145AF-98B4-493B-4365-8DA9D3EBB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021" y="1199075"/>
            <a:ext cx="7401958" cy="9716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70FE66-AA54-D497-AFA9-C9039F7613B3}"/>
              </a:ext>
            </a:extLst>
          </p:cNvPr>
          <p:cNvSpPr txBox="1"/>
          <p:nvPr/>
        </p:nvSpPr>
        <p:spPr>
          <a:xfrm>
            <a:off x="2113935" y="1081548"/>
            <a:ext cx="1652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Maintainability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BB4FD-C926-F4B8-5A5A-5BBE131408A7}"/>
              </a:ext>
            </a:extLst>
          </p:cNvPr>
          <p:cNvSpPr txBox="1"/>
          <p:nvPr/>
        </p:nvSpPr>
        <p:spPr>
          <a:xfrm>
            <a:off x="8174357" y="1081548"/>
            <a:ext cx="1468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Performance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5E9BBA-BB3F-1F19-F109-1815F422A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035" y="2170761"/>
            <a:ext cx="3662385" cy="41986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CDA9CE-C5AF-B5A2-8FD5-8704425820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255" y="2170761"/>
            <a:ext cx="5338675" cy="1700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772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978F5-9C4C-8911-0C46-1F5F70F8E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8B75F-9B25-CB1B-DEB7-7BA9E1540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Generics affect performance</a:t>
            </a:r>
          </a:p>
          <a:p>
            <a:pPr lvl="1"/>
            <a:r>
              <a:rPr lang="en-US" dirty="0"/>
              <a:t>Boxing</a:t>
            </a:r>
          </a:p>
          <a:p>
            <a:pPr lvl="1"/>
            <a:r>
              <a:rPr lang="en-US" dirty="0" err="1"/>
              <a:t>GenericList</a:t>
            </a:r>
            <a:endParaRPr lang="en-US" dirty="0"/>
          </a:p>
          <a:p>
            <a:pPr lvl="1"/>
            <a:r>
              <a:rPr lang="en-US" dirty="0"/>
              <a:t>Service</a:t>
            </a:r>
          </a:p>
          <a:p>
            <a:pPr lvl="1"/>
            <a:r>
              <a:rPr lang="en-US" dirty="0" err="1"/>
              <a:t>CallpathElimination</a:t>
            </a:r>
            <a:endParaRPr lang="en-US" dirty="0"/>
          </a:p>
          <a:p>
            <a:pPr lvl="2"/>
            <a:r>
              <a:rPr lang="en-US" dirty="0" err="1"/>
              <a:t>CallpathFactory</a:t>
            </a:r>
            <a:endParaRPr lang="en-US" dirty="0"/>
          </a:p>
          <a:p>
            <a:r>
              <a:rPr lang="en-GB" dirty="0"/>
              <a:t>Using Span &amp; Frozen Dictionaries</a:t>
            </a:r>
          </a:p>
        </p:txBody>
      </p:sp>
    </p:spTree>
    <p:extLst>
      <p:ext uri="{BB962C8B-B14F-4D97-AF65-F5344CB8AC3E}">
        <p14:creationId xmlns:p14="http://schemas.microsoft.com/office/powerpoint/2010/main" val="1696160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0C1FC-6F8A-7B82-FABF-AD91E16EC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890" y="237305"/>
            <a:ext cx="10515600" cy="1325563"/>
          </a:xfrm>
        </p:spPr>
        <p:txBody>
          <a:bodyPr/>
          <a:lstStyle/>
          <a:p>
            <a:r>
              <a:rPr lang="en-US" dirty="0"/>
              <a:t>General Advice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AA2C5-3EC0-F90E-1A8B-88D4B9DBD1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406" y="1562868"/>
            <a:ext cx="10515600" cy="4351338"/>
          </a:xfrm>
        </p:spPr>
        <p:txBody>
          <a:bodyPr/>
          <a:lstStyle/>
          <a:p>
            <a:r>
              <a:rPr lang="en-US" dirty="0"/>
              <a:t>General advice</a:t>
            </a:r>
          </a:p>
          <a:p>
            <a:pPr lvl="1"/>
            <a:r>
              <a:rPr lang="en-US" dirty="0"/>
              <a:t>Ensure all your code is testable</a:t>
            </a:r>
          </a:p>
          <a:p>
            <a:pPr lvl="2"/>
            <a:r>
              <a:rPr lang="en-US" dirty="0"/>
              <a:t>Show short dependency injection sample</a:t>
            </a:r>
          </a:p>
          <a:p>
            <a:pPr lvl="1"/>
            <a:r>
              <a:rPr lang="en-US" dirty="0"/>
              <a:t>Benchmark before optimizations</a:t>
            </a:r>
          </a:p>
          <a:p>
            <a:pPr lvl="2"/>
            <a:r>
              <a:rPr lang="en-US" dirty="0"/>
              <a:t>Show benchmark sample</a:t>
            </a:r>
          </a:p>
          <a:p>
            <a:pPr lvl="1"/>
            <a:r>
              <a:rPr lang="en-US" dirty="0"/>
              <a:t>Do not parallelize unnecessarily</a:t>
            </a:r>
          </a:p>
          <a:p>
            <a:pPr lvl="1"/>
            <a:r>
              <a:rPr lang="en-US" dirty="0"/>
              <a:t>Ensure your code is testable</a:t>
            </a:r>
          </a:p>
          <a:p>
            <a:pPr lvl="2"/>
            <a:r>
              <a:rPr lang="en-US" dirty="0"/>
              <a:t>Dependency injection is the way…</a:t>
            </a:r>
          </a:p>
          <a:p>
            <a:pPr lvl="1"/>
            <a:r>
              <a:rPr lang="en-GB" dirty="0"/>
              <a:t>Read the documentation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598D3E-A876-8E63-001E-33CD078C8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1939" y="1399237"/>
            <a:ext cx="5630061" cy="462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752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2B130-DCE9-C6E3-A14C-B02C783BE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5013" y="188144"/>
            <a:ext cx="10515600" cy="1325563"/>
          </a:xfrm>
        </p:spPr>
        <p:txBody>
          <a:bodyPr/>
          <a:lstStyle/>
          <a:p>
            <a:r>
              <a:rPr lang="en-GB" dirty="0"/>
              <a:t>NET 7 Performance Highlights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C067F6-D7D0-0F36-C0E7-21E8047974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4681"/>
            <a:ext cx="10889226" cy="5184775"/>
          </a:xfrm>
        </p:spPr>
        <p:txBody>
          <a:bodyPr>
            <a:noAutofit/>
          </a:bodyPr>
          <a:lstStyle/>
          <a:p>
            <a:pPr lvl="1"/>
            <a:r>
              <a:rPr lang="en-GB" sz="1200" dirty="0"/>
              <a:t>Fastest .NET ever</a:t>
            </a:r>
          </a:p>
          <a:p>
            <a:pPr lvl="2"/>
            <a:r>
              <a:rPr lang="en-GB" sz="1200" dirty="0"/>
              <a:t>500+ perf-focused PRs, 20–80% gains vs .NET 6</a:t>
            </a:r>
          </a:p>
          <a:p>
            <a:pPr lvl="1"/>
            <a:r>
              <a:rPr lang="en-GB" sz="1200" dirty="0"/>
              <a:t>JIT Compiler</a:t>
            </a:r>
          </a:p>
          <a:p>
            <a:pPr lvl="2"/>
            <a:r>
              <a:rPr lang="en-GB" sz="1200" dirty="0"/>
              <a:t>OSR (2.3× loop speed), PGO (3× delegate dispatch), Vectorization (24× Contains), Bounds Elimination (30-50% smaller code)</a:t>
            </a:r>
          </a:p>
          <a:p>
            <a:pPr lvl="1"/>
            <a:r>
              <a:rPr lang="en-GB" sz="1200" dirty="0"/>
              <a:t>Garbage Collector</a:t>
            </a:r>
          </a:p>
          <a:p>
            <a:pPr lvl="2"/>
            <a:r>
              <a:rPr lang="en-GB" sz="1200" dirty="0"/>
              <a:t>4MB regions default in 64-bit processes reduce pauses &amp; fragmentation</a:t>
            </a:r>
          </a:p>
          <a:p>
            <a:pPr lvl="1"/>
            <a:r>
              <a:rPr lang="en-GB" sz="1200" dirty="0"/>
              <a:t>Native AOT</a:t>
            </a:r>
          </a:p>
          <a:p>
            <a:pPr lvl="2"/>
            <a:r>
              <a:rPr lang="en-GB" sz="1200" dirty="0"/>
              <a:t>3.5MB standalone apps, full </a:t>
            </a:r>
            <a:r>
              <a:rPr lang="en-GB" sz="1200" dirty="0" err="1"/>
              <a:t>devirtualization</a:t>
            </a:r>
            <a:r>
              <a:rPr lang="en-GB" sz="1200" dirty="0"/>
              <a:t> for faster startup &amp; no JIT</a:t>
            </a:r>
          </a:p>
          <a:p>
            <a:pPr lvl="1"/>
            <a:r>
              <a:rPr lang="en-GB" sz="1200" dirty="0"/>
              <a:t>Parsing</a:t>
            </a:r>
          </a:p>
          <a:p>
            <a:pPr lvl="2"/>
            <a:r>
              <a:rPr lang="en-GB" sz="1200" dirty="0" err="1"/>
              <a:t>double.Parse</a:t>
            </a:r>
            <a:r>
              <a:rPr lang="en-GB" sz="1200" dirty="0"/>
              <a:t> 53% faster, </a:t>
            </a:r>
            <a:r>
              <a:rPr lang="en-GB" sz="1200" dirty="0" err="1"/>
              <a:t>BigInteger</a:t>
            </a:r>
            <a:r>
              <a:rPr lang="en-GB" sz="1200" dirty="0"/>
              <a:t> (20k+ digits) 52% faster, new non-backtracking Regex</a:t>
            </a:r>
          </a:p>
          <a:p>
            <a:pPr lvl="1"/>
            <a:r>
              <a:rPr lang="en-GB" sz="1200" dirty="0"/>
              <a:t>Strings &amp; Spans</a:t>
            </a:r>
          </a:p>
          <a:p>
            <a:pPr lvl="2"/>
            <a:r>
              <a:rPr lang="en-GB" sz="1200" dirty="0" err="1"/>
              <a:t>IndexOfAnyExcept</a:t>
            </a:r>
            <a:r>
              <a:rPr lang="en-GB" sz="1200" dirty="0"/>
              <a:t> 15×, ToBase64String 7.6× faster, vectorized </a:t>
            </a:r>
            <a:r>
              <a:rPr lang="en-GB" sz="1200" dirty="0" err="1"/>
              <a:t>StartsWith</a:t>
            </a:r>
            <a:r>
              <a:rPr lang="en-GB" sz="1200" dirty="0"/>
              <a:t> 9×</a:t>
            </a:r>
          </a:p>
          <a:p>
            <a:pPr lvl="1"/>
            <a:r>
              <a:rPr lang="en-GB" sz="1200" dirty="0"/>
              <a:t>Reflection</a:t>
            </a:r>
          </a:p>
          <a:p>
            <a:pPr lvl="2"/>
            <a:r>
              <a:rPr lang="en-GB" sz="1200" dirty="0" err="1"/>
              <a:t>MethodBase.Invoke</a:t>
            </a:r>
            <a:r>
              <a:rPr lang="en-GB" sz="1200" dirty="0"/>
              <a:t> 82% faster, </a:t>
            </a:r>
            <a:r>
              <a:rPr lang="en-GB" sz="1200" dirty="0" err="1"/>
              <a:t>Activator.CreateInstance</a:t>
            </a:r>
            <a:r>
              <a:rPr lang="en-GB" sz="1200" dirty="0"/>
              <a:t> 40% faster &amp; 38% fewer </a:t>
            </a:r>
            <a:r>
              <a:rPr lang="en-GB" sz="1200" dirty="0" err="1"/>
              <a:t>allocs</a:t>
            </a:r>
            <a:endParaRPr lang="en-GB" sz="1200" dirty="0"/>
          </a:p>
          <a:p>
            <a:pPr lvl="1"/>
            <a:r>
              <a:rPr lang="en-GB" sz="1200" dirty="0"/>
              <a:t>Interop</a:t>
            </a:r>
          </a:p>
          <a:p>
            <a:pPr lvl="2"/>
            <a:r>
              <a:rPr lang="en-GB" sz="1200" dirty="0" err="1"/>
              <a:t>LibraryImport</a:t>
            </a:r>
            <a:r>
              <a:rPr lang="en-GB" sz="1200" dirty="0"/>
              <a:t> source generator enables AOT inlining &amp; Span&lt;T&gt; support</a:t>
            </a:r>
          </a:p>
          <a:p>
            <a:pPr lvl="1"/>
            <a:r>
              <a:rPr lang="en-GB" sz="1200" dirty="0"/>
              <a:t>Threading</a:t>
            </a:r>
          </a:p>
          <a:p>
            <a:pPr lvl="2"/>
            <a:r>
              <a:rPr lang="en-GB" sz="1200" dirty="0"/>
              <a:t>Managed I/O pools, </a:t>
            </a:r>
            <a:r>
              <a:rPr lang="en-GB" sz="1200" dirty="0" err="1"/>
              <a:t>ArrayPool</a:t>
            </a:r>
            <a:r>
              <a:rPr lang="en-GB" sz="1200" dirty="0"/>
              <a:t> 35% faster, </a:t>
            </a:r>
            <a:r>
              <a:rPr lang="en-GB" sz="1200" dirty="0" err="1"/>
              <a:t>AsyncLocal</a:t>
            </a:r>
            <a:r>
              <a:rPr lang="en-GB" sz="1200" dirty="0"/>
              <a:t> 18% fewer allocations</a:t>
            </a:r>
          </a:p>
          <a:p>
            <a:pPr lvl="1"/>
            <a:r>
              <a:rPr lang="en-GB" sz="1200" dirty="0"/>
              <a:t>Mono / WASM</a:t>
            </a:r>
          </a:p>
          <a:p>
            <a:pPr lvl="2"/>
            <a:r>
              <a:rPr lang="en-GB" sz="1200" dirty="0"/>
              <a:t>Blazor WASM startup 10–20% faster with interpreter tiering &amp; full Vector&lt;T&gt; SIMD</a:t>
            </a:r>
          </a:p>
          <a:p>
            <a:pPr lvl="1"/>
            <a:r>
              <a:rPr lang="en-GB" sz="1200" dirty="0"/>
              <a:t>New Primitives &amp; Types</a:t>
            </a:r>
          </a:p>
          <a:p>
            <a:pPr lvl="2"/>
            <a:r>
              <a:rPr lang="en-GB" sz="1200" dirty="0"/>
              <a:t>Vector128/256&lt;T&gt;, Int128/UInt128, 30+ generic math interfaces, u8 UTF-8 literals</a:t>
            </a:r>
          </a:p>
        </p:txBody>
      </p:sp>
    </p:spTree>
    <p:extLst>
      <p:ext uri="{BB962C8B-B14F-4D97-AF65-F5344CB8AC3E}">
        <p14:creationId xmlns:p14="http://schemas.microsoft.com/office/powerpoint/2010/main" val="590737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2383100-0664-C89C-6CBD-038027C75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NET 8 Performance Highlights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FDDFC55-F5FB-6CD3-9337-F33A04F5E3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6684"/>
            <a:ext cx="10515600" cy="4810279"/>
          </a:xfrm>
        </p:spPr>
        <p:txBody>
          <a:bodyPr>
            <a:noAutofit/>
          </a:bodyPr>
          <a:lstStyle/>
          <a:p>
            <a:pPr lvl="1"/>
            <a:r>
              <a:rPr lang="en-GB" sz="1200" dirty="0"/>
              <a:t>Fastest .NET yet</a:t>
            </a:r>
          </a:p>
          <a:p>
            <a:pPr lvl="2"/>
            <a:r>
              <a:rPr lang="en-GB" sz="1200" dirty="0"/>
              <a:t>600+ perf-focused PRs, up to 97% gains vs .NET 7</a:t>
            </a:r>
          </a:p>
          <a:p>
            <a:pPr lvl="1"/>
            <a:r>
              <a:rPr lang="en-GB" sz="1200" dirty="0"/>
              <a:t>JIT Compiler</a:t>
            </a:r>
          </a:p>
          <a:p>
            <a:pPr lvl="2"/>
            <a:r>
              <a:rPr lang="en-GB" sz="1200" dirty="0"/>
              <a:t>Dynamic PGO enabled, tier-0 opts, GDV (97% faster </a:t>
            </a:r>
            <a:r>
              <a:rPr lang="en-GB" sz="1200" dirty="0" err="1"/>
              <a:t>devirtualization</a:t>
            </a:r>
            <a:r>
              <a:rPr lang="en-GB" sz="1200" dirty="0"/>
              <a:t>), loop cloning (85% speedup)</a:t>
            </a:r>
          </a:p>
          <a:p>
            <a:pPr lvl="1"/>
            <a:r>
              <a:rPr lang="en-GB" sz="1200" dirty="0"/>
              <a:t>Garbage Collector</a:t>
            </a:r>
          </a:p>
          <a:p>
            <a:pPr lvl="2"/>
            <a:r>
              <a:rPr lang="en-GB" sz="1200" dirty="0"/>
              <a:t>Dynamic heap count adaptation reduces working set ~53% (154MB → 72MB)</a:t>
            </a:r>
          </a:p>
          <a:p>
            <a:pPr lvl="1"/>
            <a:r>
              <a:rPr lang="en-GB" sz="1200" dirty="0"/>
              <a:t>Native AOT</a:t>
            </a:r>
          </a:p>
          <a:p>
            <a:pPr lvl="2"/>
            <a:r>
              <a:rPr lang="en-GB" sz="1200" dirty="0"/>
              <a:t>Hello world down to 1.5MB (from 12.8MB), full trimming &amp; </a:t>
            </a:r>
            <a:r>
              <a:rPr lang="en-GB" sz="1200" dirty="0" err="1"/>
              <a:t>devirtualization</a:t>
            </a:r>
            <a:r>
              <a:rPr lang="en-GB" sz="1200" dirty="0"/>
              <a:t> for faster startup</a:t>
            </a:r>
          </a:p>
          <a:p>
            <a:pPr lvl="1"/>
            <a:r>
              <a:rPr lang="en-GB" sz="1200" dirty="0"/>
              <a:t>Parsing</a:t>
            </a:r>
          </a:p>
          <a:p>
            <a:pPr lvl="2"/>
            <a:r>
              <a:rPr lang="en-GB" sz="1200" dirty="0" err="1"/>
              <a:t>DateTimeOffset.ParseExact</a:t>
            </a:r>
            <a:r>
              <a:rPr lang="en-GB" sz="1200" dirty="0"/>
              <a:t> 72% faster (1.1µs → 319ns), unified numeric parsing cuts 2K LOC</a:t>
            </a:r>
          </a:p>
          <a:p>
            <a:pPr lvl="1"/>
            <a:r>
              <a:rPr lang="en-GB" sz="1200" dirty="0"/>
              <a:t>Strings &amp; Spans</a:t>
            </a:r>
          </a:p>
          <a:p>
            <a:pPr lvl="2"/>
            <a:r>
              <a:rPr lang="en-GB" sz="1200" dirty="0"/>
              <a:t>Zero-value creation ~70% faster (33ns → 9ns), interpolation/</a:t>
            </a:r>
            <a:r>
              <a:rPr lang="en-GB" sz="1200" dirty="0" err="1"/>
              <a:t>enums</a:t>
            </a:r>
            <a:r>
              <a:rPr lang="en-GB" sz="1200" dirty="0"/>
              <a:t> 58% faster, </a:t>
            </a:r>
            <a:r>
              <a:rPr lang="en-GB" sz="1200" dirty="0" err="1"/>
              <a:t>MemoryExtensions.Count</a:t>
            </a:r>
            <a:r>
              <a:rPr lang="en-GB" sz="1200" dirty="0"/>
              <a:t> 96% speedup</a:t>
            </a:r>
          </a:p>
          <a:p>
            <a:pPr lvl="1"/>
            <a:r>
              <a:rPr lang="en-GB" sz="1200" dirty="0"/>
              <a:t>Reflection</a:t>
            </a:r>
          </a:p>
          <a:p>
            <a:pPr lvl="2"/>
            <a:r>
              <a:rPr lang="en-GB" sz="1200" dirty="0" err="1"/>
              <a:t>GetCustomAttributes</a:t>
            </a:r>
            <a:r>
              <a:rPr lang="en-GB" sz="1200" dirty="0"/>
              <a:t> 23% faster (1.3ns → 994ns), </a:t>
            </a:r>
            <a:r>
              <a:rPr lang="en-GB" sz="1200" dirty="0" err="1"/>
              <a:t>GetGenericTypeDefinition</a:t>
            </a:r>
            <a:r>
              <a:rPr lang="en-GB" sz="1200" dirty="0"/>
              <a:t> 93% faster (47ns → 3ns)</a:t>
            </a:r>
          </a:p>
          <a:p>
            <a:pPr lvl="1"/>
            <a:r>
              <a:rPr lang="en-GB" sz="1200" dirty="0"/>
              <a:t>Interop</a:t>
            </a:r>
          </a:p>
          <a:p>
            <a:pPr lvl="2"/>
            <a:r>
              <a:rPr lang="en-GB" sz="1200" dirty="0"/>
              <a:t>Enhanced trimming for </a:t>
            </a:r>
            <a:r>
              <a:rPr lang="en-GB" sz="1200" dirty="0" err="1"/>
              <a:t>HttpClient</a:t>
            </a:r>
            <a:r>
              <a:rPr lang="en-GB" sz="1200" dirty="0"/>
              <a:t>/Regex, smaller images &amp; reduced startup via expression opts</a:t>
            </a:r>
          </a:p>
          <a:p>
            <a:pPr lvl="1"/>
            <a:r>
              <a:rPr lang="en-GB" sz="1200" dirty="0"/>
              <a:t>Threading</a:t>
            </a:r>
          </a:p>
          <a:p>
            <a:pPr lvl="2"/>
            <a:r>
              <a:rPr lang="en-GB" sz="1200" dirty="0" err="1"/>
              <a:t>ConfigureAwait</a:t>
            </a:r>
            <a:r>
              <a:rPr lang="en-GB" sz="1200" dirty="0"/>
              <a:t> options cut </a:t>
            </a:r>
            <a:r>
              <a:rPr lang="en-GB" sz="1200" dirty="0" err="1"/>
              <a:t>allocs</a:t>
            </a:r>
            <a:r>
              <a:rPr lang="en-GB" sz="1200" dirty="0"/>
              <a:t> 19% (45KB → 36KB), </a:t>
            </a:r>
            <a:r>
              <a:rPr lang="en-GB" sz="1200" dirty="0" err="1"/>
              <a:t>Task.WhenAll</a:t>
            </a:r>
            <a:r>
              <a:rPr lang="en-GB" sz="1200" dirty="0"/>
              <a:t>/</a:t>
            </a:r>
            <a:r>
              <a:rPr lang="en-GB" sz="1200" dirty="0" err="1"/>
              <a:t>WhenAny</a:t>
            </a:r>
            <a:r>
              <a:rPr lang="en-GB" sz="1200" dirty="0"/>
              <a:t> 24-53% faster</a:t>
            </a:r>
          </a:p>
          <a:p>
            <a:pPr lvl="1"/>
            <a:r>
              <a:rPr lang="en-GB" sz="1200" dirty="0"/>
              <a:t>Mono / WASM</a:t>
            </a:r>
          </a:p>
          <a:p>
            <a:pPr lvl="2"/>
            <a:r>
              <a:rPr lang="en-GB" sz="1200" dirty="0" err="1"/>
              <a:t>Jiterpreter</a:t>
            </a:r>
            <a:r>
              <a:rPr lang="en-GB" sz="1200" dirty="0"/>
              <a:t> boosts Blazor WASM ~10x (e.g., XxHash64), full SIMD support across backends</a:t>
            </a:r>
          </a:p>
        </p:txBody>
      </p:sp>
    </p:spTree>
    <p:extLst>
      <p:ext uri="{BB962C8B-B14F-4D97-AF65-F5344CB8AC3E}">
        <p14:creationId xmlns:p14="http://schemas.microsoft.com/office/powerpoint/2010/main" val="689120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20CA3-B6D2-181E-4C43-4C1D8074884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NET 9 Performance Highlights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361A5-A08F-A441-CA29-AB8F157A5889}"/>
              </a:ext>
            </a:extLst>
          </p:cNvPr>
          <p:cNvSpPr txBox="1">
            <a:spLocks/>
          </p:cNvSpPr>
          <p:nvPr/>
        </p:nvSpPr>
        <p:spPr>
          <a:xfrm>
            <a:off x="572729" y="1137367"/>
            <a:ext cx="10515600" cy="435133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 sz="1200" dirty="0"/>
              <a:t>Fastest .NET yet</a:t>
            </a:r>
          </a:p>
          <a:p>
            <a:pPr lvl="2"/>
            <a:r>
              <a:rPr lang="en-GB" sz="1200" dirty="0"/>
              <a:t>350+ perf-focused PRs (7,500+ total in runtime), up to 97% gains vs .NET 8; ~10% smaller binaries</a:t>
            </a:r>
          </a:p>
          <a:p>
            <a:pPr lvl="1"/>
            <a:r>
              <a:rPr lang="en-GB" sz="1200" dirty="0"/>
              <a:t>JIT Compiler</a:t>
            </a:r>
          </a:p>
          <a:p>
            <a:pPr lvl="2"/>
            <a:r>
              <a:rPr lang="en-GB" sz="1200" dirty="0"/>
              <a:t>Dynamic PGO for casts/unrolling (e.g., </a:t>
            </a:r>
            <a:r>
              <a:rPr lang="en-GB" sz="1200" dirty="0" err="1"/>
              <a:t>string.Equals</a:t>
            </a:r>
            <a:r>
              <a:rPr lang="en-GB" sz="1200" dirty="0"/>
              <a:t> 4x faster), Tier 0 opts, AVX512/SVE enhancements (e.g., XxHash128 35% faster), loop cloning (up to 30% speedup)</a:t>
            </a:r>
          </a:p>
          <a:p>
            <a:pPr lvl="1"/>
            <a:r>
              <a:rPr lang="en-GB" sz="1200" dirty="0"/>
              <a:t>Garbage Collector</a:t>
            </a:r>
          </a:p>
          <a:p>
            <a:pPr lvl="2"/>
            <a:r>
              <a:rPr lang="en-GB" sz="1200" dirty="0"/>
              <a:t>Minor Linux startup opts (&gt;10ms faster); interruptible </a:t>
            </a:r>
            <a:r>
              <a:rPr lang="en-GB" sz="1200" dirty="0" err="1"/>
              <a:t>Span.Fill</a:t>
            </a:r>
            <a:r>
              <a:rPr lang="en-GB" sz="1200" dirty="0"/>
              <a:t>/</a:t>
            </a:r>
            <a:r>
              <a:rPr lang="en-GB" sz="1200" dirty="0" err="1"/>
              <a:t>Array.Copy</a:t>
            </a:r>
            <a:r>
              <a:rPr lang="en-GB" sz="1200" dirty="0"/>
              <a:t> reduces pauses (1s → 0.2s)</a:t>
            </a:r>
          </a:p>
          <a:p>
            <a:pPr lvl="1"/>
            <a:r>
              <a:rPr lang="en-GB" sz="1200" dirty="0"/>
              <a:t>Native AOT</a:t>
            </a:r>
          </a:p>
          <a:p>
            <a:pPr lvl="2"/>
            <a:r>
              <a:rPr lang="en-GB" sz="1200" dirty="0"/>
              <a:t>10% binary size reduction (e.g., ASP.NET 9.4MB → 8.5MB), enhanced trimming/</a:t>
            </a:r>
            <a:r>
              <a:rPr lang="en-GB" sz="1200" dirty="0" err="1"/>
              <a:t>devirtualization</a:t>
            </a:r>
            <a:r>
              <a:rPr lang="en-GB" sz="1200" dirty="0"/>
              <a:t> for faster startup</a:t>
            </a:r>
          </a:p>
          <a:p>
            <a:pPr lvl="1"/>
            <a:r>
              <a:rPr lang="en-GB" sz="1200" dirty="0"/>
              <a:t>Parsing</a:t>
            </a:r>
          </a:p>
          <a:p>
            <a:pPr lvl="2"/>
            <a:r>
              <a:rPr lang="en-GB" sz="1200" dirty="0" err="1"/>
              <a:t>BigInteger</a:t>
            </a:r>
            <a:r>
              <a:rPr lang="en-GB" sz="1200" dirty="0"/>
              <a:t> hex parse 20x faster (5µs → 237ns), </a:t>
            </a:r>
            <a:r>
              <a:rPr lang="en-GB" sz="1200" dirty="0" err="1"/>
              <a:t>TimeSpan.Parse</a:t>
            </a:r>
            <a:r>
              <a:rPr lang="en-GB" sz="1200" dirty="0"/>
              <a:t> 14% faster; vectorized multi-char support</a:t>
            </a:r>
          </a:p>
          <a:p>
            <a:pPr lvl="1"/>
            <a:r>
              <a:rPr lang="en-GB" sz="1200" dirty="0"/>
              <a:t>Strings &amp; Spans</a:t>
            </a:r>
          </a:p>
          <a:p>
            <a:pPr lvl="2"/>
            <a:r>
              <a:rPr lang="en-GB" sz="1200" dirty="0" err="1"/>
              <a:t>SearchValues.ContainsAny</a:t>
            </a:r>
            <a:r>
              <a:rPr lang="en-GB" sz="1200" dirty="0"/>
              <a:t> 14x faster, Base64Url encode 16x faster, </a:t>
            </a:r>
            <a:r>
              <a:rPr lang="en-GB" sz="1200" dirty="0" err="1"/>
              <a:t>string.Contains</a:t>
            </a:r>
            <a:r>
              <a:rPr lang="en-GB" sz="1200" dirty="0"/>
              <a:t> intrinsic 4x speedup; zero-</a:t>
            </a:r>
            <a:r>
              <a:rPr lang="en-GB" sz="1200" dirty="0" err="1"/>
              <a:t>alloc</a:t>
            </a:r>
            <a:r>
              <a:rPr lang="en-GB" sz="1200" dirty="0"/>
              <a:t> Split enumerator</a:t>
            </a:r>
          </a:p>
          <a:p>
            <a:pPr lvl="1"/>
            <a:r>
              <a:rPr lang="en-GB" sz="1200" dirty="0"/>
              <a:t>Reflection</a:t>
            </a:r>
          </a:p>
          <a:p>
            <a:pPr lvl="2"/>
            <a:r>
              <a:rPr lang="en-GB" sz="1200" dirty="0"/>
              <a:t>Delegate invocation 65% faster/100% fewer </a:t>
            </a:r>
            <a:r>
              <a:rPr lang="en-GB" sz="1200" dirty="0" err="1"/>
              <a:t>allocs</a:t>
            </a:r>
            <a:r>
              <a:rPr lang="en-GB" sz="1200" dirty="0"/>
              <a:t>, </a:t>
            </a:r>
            <a:r>
              <a:rPr lang="en-GB" sz="1200" dirty="0" err="1"/>
              <a:t>Activator.CreateInstance</a:t>
            </a:r>
            <a:r>
              <a:rPr lang="en-GB" sz="1200" dirty="0"/>
              <a:t> 49% faster; </a:t>
            </a:r>
            <a:r>
              <a:rPr lang="en-GB" sz="1200" dirty="0" err="1"/>
              <a:t>UnsafeAccessor</a:t>
            </a:r>
            <a:r>
              <a:rPr lang="en-GB" sz="1200" dirty="0"/>
              <a:t> generics</a:t>
            </a:r>
          </a:p>
          <a:p>
            <a:pPr lvl="1"/>
            <a:r>
              <a:rPr lang="en-GB" sz="1200" dirty="0"/>
              <a:t>Interop</a:t>
            </a:r>
          </a:p>
          <a:p>
            <a:pPr lvl="2"/>
            <a:r>
              <a:rPr lang="en-GB" sz="1200" dirty="0" err="1"/>
              <a:t>Enum.TryParse</a:t>
            </a:r>
            <a:r>
              <a:rPr lang="en-GB" sz="1200" dirty="0"/>
              <a:t> 55% faster via </a:t>
            </a:r>
            <a:r>
              <a:rPr lang="en-GB" sz="1200" dirty="0" err="1"/>
              <a:t>SizeOf</a:t>
            </a:r>
            <a:r>
              <a:rPr lang="en-GB" sz="1200" dirty="0"/>
              <a:t>/Box intrinsics; enhanced trimming for smaller images</a:t>
            </a:r>
          </a:p>
          <a:p>
            <a:pPr lvl="1"/>
            <a:r>
              <a:rPr lang="en-GB" sz="1200" dirty="0"/>
              <a:t>Threading</a:t>
            </a:r>
          </a:p>
          <a:p>
            <a:pPr lvl="2"/>
            <a:r>
              <a:rPr lang="en-GB" sz="1200" dirty="0"/>
              <a:t>New Lock type 3% faster, Interlocked for shorts 6x speedup in </a:t>
            </a:r>
            <a:r>
              <a:rPr lang="en-GB" sz="1200" dirty="0" err="1"/>
              <a:t>Parallel.ForAsync</a:t>
            </a:r>
            <a:r>
              <a:rPr lang="en-GB" sz="1200" dirty="0"/>
              <a:t>, </a:t>
            </a:r>
            <a:r>
              <a:rPr lang="en-GB" sz="1200" dirty="0" err="1"/>
              <a:t>Task.WhenAll</a:t>
            </a:r>
            <a:r>
              <a:rPr lang="en-GB" sz="1200" dirty="0"/>
              <a:t> 18% fewer </a:t>
            </a:r>
            <a:r>
              <a:rPr lang="en-GB" sz="1200" dirty="0" err="1"/>
              <a:t>allocs</a:t>
            </a:r>
            <a:endParaRPr lang="en-GB" sz="1200" dirty="0"/>
          </a:p>
          <a:p>
            <a:pPr lvl="1"/>
            <a:r>
              <a:rPr lang="en-GB" sz="1200" dirty="0"/>
              <a:t>Mono / WASM</a:t>
            </a:r>
          </a:p>
          <a:p>
            <a:pPr lvl="2"/>
            <a:r>
              <a:rPr lang="en-GB" sz="1200" dirty="0"/>
              <a:t>Interpreter profiling for faster tiering, vectorized hash tables &amp; intrinsics (e.g., </a:t>
            </a:r>
            <a:r>
              <a:rPr lang="en-GB" sz="1200" dirty="0" err="1"/>
              <a:t>Span.Clear</a:t>
            </a:r>
            <a:r>
              <a:rPr lang="en-GB" sz="1200" dirty="0"/>
              <a:t> accelerated); startup delays for ICU</a:t>
            </a:r>
          </a:p>
          <a:p>
            <a:pPr lvl="1"/>
            <a:r>
              <a:rPr lang="en-GB" sz="1200" dirty="0"/>
              <a:t>LINQ / Collections</a:t>
            </a:r>
          </a:p>
          <a:p>
            <a:pPr lvl="2"/>
            <a:r>
              <a:rPr lang="en-GB" sz="1200" dirty="0"/>
              <a:t>Any/All/Count on arrays 85% faster, </a:t>
            </a:r>
            <a:r>
              <a:rPr lang="en-GB" sz="1200" dirty="0" err="1"/>
              <a:t>ToArray</a:t>
            </a:r>
            <a:r>
              <a:rPr lang="en-GB" sz="1200" dirty="0"/>
              <a:t> 52% fewer </a:t>
            </a:r>
            <a:r>
              <a:rPr lang="en-GB" sz="1200" dirty="0" err="1"/>
              <a:t>allocs</a:t>
            </a:r>
            <a:r>
              <a:rPr lang="en-GB" sz="1200" dirty="0"/>
              <a:t>; vectorized Min/Max for Int128</a:t>
            </a:r>
          </a:p>
        </p:txBody>
      </p:sp>
    </p:spTree>
    <p:extLst>
      <p:ext uri="{BB962C8B-B14F-4D97-AF65-F5344CB8AC3E}">
        <p14:creationId xmlns:p14="http://schemas.microsoft.com/office/powerpoint/2010/main" val="2261623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E7159-2F16-C8C1-C4B7-46735274E7D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NET 10 Performance Highlights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74FB6-2F68-273C-5876-148CE4DE47A6}"/>
              </a:ext>
            </a:extLst>
          </p:cNvPr>
          <p:cNvSpPr txBox="1">
            <a:spLocks/>
          </p:cNvSpPr>
          <p:nvPr/>
        </p:nvSpPr>
        <p:spPr>
          <a:xfrm>
            <a:off x="690716" y="1253331"/>
            <a:ext cx="10515600" cy="488199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 sz="1200" dirty="0"/>
              <a:t>Fastest .NET yet</a:t>
            </a:r>
          </a:p>
          <a:p>
            <a:pPr lvl="2"/>
            <a:r>
              <a:rPr lang="en-GB" sz="1200" dirty="0"/>
              <a:t>500+ perf-focused PRs, up to 50% gains vs .NET 9; 15% smaller binaries &amp; faster startup</a:t>
            </a:r>
          </a:p>
          <a:p>
            <a:pPr lvl="1"/>
            <a:r>
              <a:rPr lang="en-GB" sz="1200" dirty="0"/>
              <a:t>JIT Compiler</a:t>
            </a:r>
          </a:p>
          <a:p>
            <a:pPr lvl="2"/>
            <a:r>
              <a:rPr lang="en-GB" sz="1200" dirty="0"/>
              <a:t>Enhanced PGO for loops/casts (e.g., string ops 5x faster), AVX10/SVE2 support (</a:t>
            </a:r>
            <a:r>
              <a:rPr lang="en-GB" sz="1200" dirty="0" err="1"/>
              <a:t>XxHash</a:t>
            </a:r>
            <a:r>
              <a:rPr lang="en-GB" sz="1200" dirty="0"/>
              <a:t> 40% faster), improved inlining (25% smaller code)</a:t>
            </a:r>
          </a:p>
          <a:p>
            <a:pPr lvl="1"/>
            <a:r>
              <a:rPr lang="en-GB" sz="1200" dirty="0"/>
              <a:t>Garbage Collector</a:t>
            </a:r>
          </a:p>
          <a:p>
            <a:pPr lvl="2"/>
            <a:r>
              <a:rPr lang="en-GB" sz="1200" dirty="0"/>
              <a:t>Dynamic adaptation of heap count (working set ~40% smaller, 120MB → 72MB), reduced pauses in high-throughput scenarios</a:t>
            </a:r>
          </a:p>
          <a:p>
            <a:pPr lvl="1"/>
            <a:r>
              <a:rPr lang="en-GB" sz="1200" dirty="0"/>
              <a:t>Native AOT</a:t>
            </a:r>
          </a:p>
          <a:p>
            <a:pPr lvl="2"/>
            <a:r>
              <a:rPr lang="en-GB" sz="1200" dirty="0"/>
              <a:t>1.2MB hello world (from 1.5MB), advanced trimming for 20% faster cold starts &amp; full </a:t>
            </a:r>
            <a:r>
              <a:rPr lang="en-GB" sz="1200" dirty="0" err="1"/>
              <a:t>crossgen</a:t>
            </a:r>
            <a:r>
              <a:rPr lang="en-GB" sz="1200" dirty="0"/>
              <a:t> support</a:t>
            </a:r>
          </a:p>
          <a:p>
            <a:pPr lvl="1"/>
            <a:r>
              <a:rPr lang="en-GB" sz="1200" dirty="0"/>
              <a:t>Parsing</a:t>
            </a:r>
          </a:p>
          <a:p>
            <a:pPr lvl="2"/>
            <a:r>
              <a:rPr lang="en-GB" sz="1200" dirty="0" err="1"/>
              <a:t>BigInteger</a:t>
            </a:r>
            <a:r>
              <a:rPr lang="en-GB" sz="1200" dirty="0"/>
              <a:t> binary parse 25x faster (4µs → 160ns), </a:t>
            </a:r>
            <a:r>
              <a:rPr lang="en-GB" sz="1200" dirty="0" err="1"/>
              <a:t>DateTime.Parse</a:t>
            </a:r>
            <a:r>
              <a:rPr lang="en-GB" sz="1200" dirty="0"/>
              <a:t> 18% speedup; hardware-accelerated UTF-8 parsing</a:t>
            </a:r>
          </a:p>
          <a:p>
            <a:pPr lvl="1"/>
            <a:r>
              <a:rPr lang="en-GB" sz="1200" dirty="0"/>
              <a:t>Strings &amp; Spans</a:t>
            </a:r>
          </a:p>
          <a:p>
            <a:pPr lvl="2"/>
            <a:r>
              <a:rPr lang="en-GB" sz="1200" dirty="0" err="1"/>
              <a:t>ContainsAny</a:t>
            </a:r>
            <a:r>
              <a:rPr lang="en-GB" sz="1200" dirty="0"/>
              <a:t> 12x faster, Base64 decode 20x speedup, zero-</a:t>
            </a:r>
            <a:r>
              <a:rPr lang="en-GB" sz="1200" dirty="0" err="1"/>
              <a:t>alloc</a:t>
            </a:r>
            <a:r>
              <a:rPr lang="en-GB" sz="1200" dirty="0"/>
              <a:t> interpolation 6x; new </a:t>
            </a:r>
            <a:r>
              <a:rPr lang="en-GB" sz="1200" dirty="0" err="1"/>
              <a:t>Span.Split</a:t>
            </a:r>
            <a:r>
              <a:rPr lang="en-GB" sz="1200" dirty="0"/>
              <a:t> intrinsic</a:t>
            </a:r>
          </a:p>
          <a:p>
            <a:pPr lvl="1"/>
            <a:r>
              <a:rPr lang="en-GB" sz="1200" dirty="0"/>
              <a:t>Reflection</a:t>
            </a:r>
          </a:p>
          <a:p>
            <a:pPr lvl="2"/>
            <a:r>
              <a:rPr lang="en-GB" sz="1200" dirty="0" err="1"/>
              <a:t>Type.GetProperty</a:t>
            </a:r>
            <a:r>
              <a:rPr lang="en-GB" sz="1200" dirty="0"/>
              <a:t> 55% faster (2.1ns → 0.9ns), </a:t>
            </a:r>
            <a:r>
              <a:rPr lang="en-GB" sz="1200" dirty="0" err="1"/>
              <a:t>CreateInstance</a:t>
            </a:r>
            <a:r>
              <a:rPr lang="en-GB" sz="1200" dirty="0"/>
              <a:t> 35% faster; cached metadata for </a:t>
            </a:r>
            <a:r>
              <a:rPr lang="en-GB" sz="1200" dirty="0" err="1"/>
              <a:t>enums</a:t>
            </a:r>
            <a:endParaRPr lang="en-GB" sz="1200" dirty="0"/>
          </a:p>
          <a:p>
            <a:pPr lvl="1"/>
            <a:r>
              <a:rPr lang="en-GB" sz="1200" dirty="0"/>
              <a:t>Interop</a:t>
            </a:r>
          </a:p>
          <a:p>
            <a:pPr lvl="2"/>
            <a:r>
              <a:rPr lang="en-GB" sz="1200" dirty="0"/>
              <a:t>Native library loading 30% faster, improved </a:t>
            </a:r>
            <a:r>
              <a:rPr lang="en-GB" sz="1200" dirty="0" err="1"/>
              <a:t>marshaling</a:t>
            </a:r>
            <a:r>
              <a:rPr lang="en-GB" sz="1200" dirty="0"/>
              <a:t> for structs (e.g., Blittable types 2x speedup)</a:t>
            </a:r>
          </a:p>
          <a:p>
            <a:pPr lvl="1"/>
            <a:r>
              <a:rPr lang="en-GB" sz="1200" dirty="0"/>
              <a:t>Threading</a:t>
            </a:r>
          </a:p>
          <a:p>
            <a:pPr lvl="2"/>
            <a:r>
              <a:rPr lang="en-GB" sz="1200" dirty="0"/>
              <a:t>Lock-Free queues 25% faster, </a:t>
            </a:r>
            <a:r>
              <a:rPr lang="en-GB" sz="1200" dirty="0" err="1"/>
              <a:t>Parallel.ForEach</a:t>
            </a:r>
            <a:r>
              <a:rPr lang="en-GB" sz="1200" dirty="0"/>
              <a:t> 15% throughput gain, </a:t>
            </a:r>
            <a:r>
              <a:rPr lang="en-GB" sz="1200" dirty="0" err="1"/>
              <a:t>Task.Run</a:t>
            </a:r>
            <a:r>
              <a:rPr lang="en-GB" sz="1200" dirty="0"/>
              <a:t> 10% fewer </a:t>
            </a:r>
            <a:r>
              <a:rPr lang="en-GB" sz="1200" dirty="0" err="1"/>
              <a:t>allocs</a:t>
            </a:r>
            <a:endParaRPr lang="en-GB" sz="1200" dirty="0"/>
          </a:p>
          <a:p>
            <a:pPr lvl="1"/>
            <a:r>
              <a:rPr lang="en-GB" sz="1200" dirty="0"/>
              <a:t>Mono / WASM</a:t>
            </a:r>
          </a:p>
          <a:p>
            <a:pPr lvl="2"/>
            <a:r>
              <a:rPr lang="en-GB" sz="1200" dirty="0"/>
              <a:t>Tiered compilation 15% faster, full SVE intrinsics, Blazor startup &lt;5s with AOT hybrid</a:t>
            </a:r>
          </a:p>
        </p:txBody>
      </p:sp>
    </p:spTree>
    <p:extLst>
      <p:ext uri="{BB962C8B-B14F-4D97-AF65-F5344CB8AC3E}">
        <p14:creationId xmlns:p14="http://schemas.microsoft.com/office/powerpoint/2010/main" val="2779086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1009</Words>
  <Application>Microsoft Office PowerPoint</Application>
  <PresentationFormat>Widescreen</PresentationFormat>
  <Paragraphs>111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The tradeoff</vt:lpstr>
      <vt:lpstr>Demo</vt:lpstr>
      <vt:lpstr>General Advice</vt:lpstr>
      <vt:lpstr>NET 7 Performance Highlights</vt:lpstr>
      <vt:lpstr>NET 8 Performance Highlights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 Hibbert</dc:creator>
  <cp:lastModifiedBy>Jean Hibbert</cp:lastModifiedBy>
  <cp:revision>2</cp:revision>
  <dcterms:created xsi:type="dcterms:W3CDTF">2025-11-10T19:37:52Z</dcterms:created>
  <dcterms:modified xsi:type="dcterms:W3CDTF">2025-11-15T22:37:56Z</dcterms:modified>
</cp:coreProperties>
</file>